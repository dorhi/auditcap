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7C8"/>
                </a:solidFill>
                <a:latin typeface="Malgun Gothic"/>
              </a:defRPr>
            </a:pPr>
            <a:r>
              <a:t>  LEAD_REP 사용자 전용 매뉴얼  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법인 전체 조치내역 1차 검토 및 감사실 상신 승인</a:t>
            </a:r>
          </a:p>
          <a:p>
            <a:pPr>
              <a:defRPr sz="1600">
                <a:solidFill>
                  <a:srgbClr val="CBD5E1"/>
                </a:solidFill>
                <a:latin typeface="Malgun Gothic"/>
              </a:defRPr>
            </a:pPr>
            <a:r>
              <a:t>법인 대표담당자(LEAD_REP) 전용 실무 매뉴얼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Malgun Gothic"/>
              </a:defRPr>
            </a:pPr>
            <a:r>
              <a:t>📌 적용 대상: 소속 법인 감사 총괄 대표담당자, 법인 내 감사 조치 관리자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글로벌 세아(SAE-A) 감사실 |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ROLE &amp; AUTHORITY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 대표담당자의 역할과 권한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법인 CAP 총괄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소속 법인 전 건 모니터링: </a:t>
            </a:r>
            <a:r>
              <a:rPr sz="1100">
                <a:solidFill>
                  <a:srgbClr val="0F172A"/>
                </a:solidFill>
                <a:latin typeface="Malgun Gothic"/>
              </a:rPr>
              <a:t>소속 법인의 모든 CAP 지적사항 및 담당자별 진행률 확인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조치내용 품질 심사: </a:t>
            </a:r>
            <a:r>
              <a:rPr sz="1100">
                <a:solidFill>
                  <a:srgbClr val="0F172A"/>
                </a:solidFill>
                <a:latin typeface="Malgun Gothic"/>
              </a:rPr>
              <a:t>담당자가 작성한 원인 분석, 조치계획, 증빙자료가 충분한지 1차 검증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부서 간 조율: </a:t>
            </a:r>
            <a:r>
              <a:rPr sz="1100">
                <a:solidFill>
                  <a:srgbClr val="0F172A"/>
                </a:solidFill>
                <a:latin typeface="Malgun Gothic"/>
              </a:rPr>
              <a:t>유관부서 협조가 필요한 항목의 의견 등록 여부 및 협조 상태 조율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감사실 제출 승인 (CONFIRM)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승인 요건: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 상태가 입력되어 있고, 조치내용 및 증빙이 감사실 검증에 부합하는 경우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실행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[확인 완료 (감사팀 제출)] 버튼 클릭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변경: </a:t>
            </a:r>
            <a:r>
              <a:rPr sz="1100">
                <a:solidFill>
                  <a:srgbClr val="0F172A"/>
                </a:solidFill>
                <a:latin typeface="Malgun Gothic"/>
              </a:rPr>
              <a:t>PENDING_LEAD ➔ PENDING_AUDIT (감사실 검증대기 전환)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의견 첨부: </a:t>
            </a:r>
            <a:r>
              <a:rPr sz="1100">
                <a:solidFill>
                  <a:srgbClr val="0F172A"/>
                </a:solidFill>
                <a:latin typeface="Malgun Gothic"/>
              </a:rPr>
              <a:t>필요 시 대표담당자 검토 의견을 함께 기재하여 상신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미흡 건 재수정 요청 (반려)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반려 요건: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내용이 부실하거나, 증빙이 누락되었거나, 기한 설정이 부적절한 경우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실행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[재수정 요청 (반려)] 버튼 클릭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필수 조건: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구체적인 반려 사유 및 보완 가이드를 코멘트로 반드시 작성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변경: </a:t>
            </a:r>
            <a:r>
              <a:rPr sz="1100">
                <a:solidFill>
                  <a:srgbClr val="0F172A"/>
                </a:solidFill>
                <a:latin typeface="Malgun Gothic"/>
              </a:rPr>
              <a:t>PENDING_LEAD ➔ REJECTED_LEAD (담당자 재작성 전환)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CHECKLIST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 대표담당자 조치 검토 5대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3 /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2743200"/>
                <a:gridCol w="231617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검토 항목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세부 심사 기준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미흡 시 조치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적합 시 조치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1. 원인 분석의 적정성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발생 원인이 근본적으로 분석되었는지 (단순 실수 등으로 치부하지 않았는지)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반려 사유에 '근본 원인 재분석 요구' 기재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2. 조치 상태 코드 일치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개선중/개선완료 상태가 실제 이행 상황 및 일자와 일치하는지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 상태 코드 및 날짜 수정 요구 반려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 증빙자료 신뢰성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개선완료 건에 대해 입증 가능한 객관적 문서/사진이 첨부되었는지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증빙 추가 첨부 요구 반려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 재발방지 대책 실효성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동일한 지적사항이 재발하지 않도록 제도/프로세스 개선이 포함되었는지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재발방지 대책 보완 요구 반려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 마감기한의 타당성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감사팀 예상 마감일보다 늦지 않게 목표일이 설정되었는지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마감일정 단축 조정 요구 반려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UI OPERATION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2] 화면에서의 승인 및 반려 상세 조작법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4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대표담당자 확인 대기 건 조회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메뉴 이동: </a:t>
            </a:r>
            <a:r>
              <a:rPr sz="1100">
                <a:solidFill>
                  <a:srgbClr val="0F172A"/>
                </a:solidFill>
                <a:latin typeface="Malgun Gothic"/>
              </a:rPr>
              <a:t>좌측 [감사 조치계획 &amp; 필수 정보 입력] 메뉴로 이동합니다.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뱃지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그리드에서 노란색 '대표담당자 확인대기 (PENDING_LEAD)' 뱃지가 표시된 건을 선택합니다.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종합 내역 검토: </a:t>
            </a:r>
            <a:r>
              <a:rPr sz="1100">
                <a:solidFill>
                  <a:srgbClr val="0F172A"/>
                </a:solidFill>
                <a:latin typeface="Malgun Gothic"/>
              </a:rPr>
              <a:t>우측 상세 패널에서 담당자명, 부서, 조치내역, 첨부된 증빙파일을 면밀히 열람합니다.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감사실 제출 (CONFIRM) 승인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 클릭: </a:t>
            </a:r>
            <a:r>
              <a:rPr sz="1100">
                <a:solidFill>
                  <a:srgbClr val="0F172A"/>
                </a:solidFill>
                <a:latin typeface="Malgun Gothic"/>
              </a:rPr>
              <a:t>하단 결재 바에서 녹색 [확인 완료 (감사팀 제출)]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의견 입력창: </a:t>
            </a:r>
            <a:r>
              <a:rPr sz="1100">
                <a:solidFill>
                  <a:srgbClr val="0F172A"/>
                </a:solidFill>
                <a:latin typeface="Malgun Gothic"/>
              </a:rPr>
              <a:t>대표담당자 검토 의견을 입력할 수 있는 팝업창에 추가 피드백을 기재합니다.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감사실 상신: </a:t>
            </a:r>
            <a:r>
              <a:rPr sz="1100">
                <a:solidFill>
                  <a:srgbClr val="0F172A"/>
                </a:solidFill>
                <a:latin typeface="Malgun Gothic"/>
              </a:rPr>
              <a:t>승인 즉시 본사 감사실의 검증 목록으로 이관되며 타임라인에 기록됩니다.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재수정 요청 (반려: REJECT)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 클릭: </a:t>
            </a:r>
            <a:r>
              <a:rPr sz="1100">
                <a:solidFill>
                  <a:srgbClr val="0F172A"/>
                </a:solidFill>
                <a:latin typeface="Malgun Gothic"/>
              </a:rPr>
              <a:t>하단 결재 바에서 주황색 [재수정 요청 (반려)]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사유 필수 입력: </a:t>
            </a:r>
            <a:r>
              <a:rPr sz="1100">
                <a:solidFill>
                  <a:srgbClr val="0F172A"/>
                </a:solidFill>
                <a:latin typeface="Malgun Gothic"/>
              </a:rPr>
              <a:t>담당자가 무엇을 어떻게 보완해야 하는지 구체적인 사유를 팝업창에 입력합니다.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담당자 피드백: </a:t>
            </a:r>
            <a:r>
              <a:rPr sz="1100">
                <a:solidFill>
                  <a:srgbClr val="0F172A"/>
                </a:solidFill>
                <a:latin typeface="Malgun Gothic"/>
              </a:rPr>
              <a:t>확인 즉시 담당자에게 반려 처리되어 담당자가 내용을 보완할 수 있게 열립니다.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MONITORING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4] 법인 전체 감사 조치율 모니터링 및 진척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5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📊 법인 이행률 종합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메뉴 안내: </a:t>
            </a:r>
            <a:r>
              <a:rPr sz="1100">
                <a:solidFill>
                  <a:srgbClr val="0F172A"/>
                </a:solidFill>
                <a:latin typeface="Malgun Gothic"/>
              </a:rPr>
              <a:t>[법인별 전체 감사 조치율 보고] 화면을 통해 법인 전체 통계를 실시간 확인합니다.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이행률 카드: </a:t>
            </a:r>
            <a:r>
              <a:rPr sz="1100">
                <a:solidFill>
                  <a:srgbClr val="0F172A"/>
                </a:solidFill>
                <a:latin typeface="Malgun Gothic"/>
              </a:rPr>
              <a:t>소속 법인의 총 CAP 건수, 감사 검증완료 건수, 조치율(%)을 파악합니다.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미완료 지연 건 독려: </a:t>
            </a:r>
            <a:r>
              <a:rPr sz="1100">
                <a:solidFill>
                  <a:srgbClr val="0F172A"/>
                </a:solidFill>
                <a:latin typeface="Malgun Gothic"/>
              </a:rPr>
              <a:t>마감일이 임박하거나 아직 미작성/작성중인 담당자를 파악하여 조속한 조치 작성을 독려합니다.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📑 엑셀 보고서 다운로드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엑셀 다운로드 기능: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[엑셀 다운로드] 버튼을 클릭하여 소속 법인의 전체 지적사항 통계를 엑셀 파일로 저장합니다.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경영진 보고 활용: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내부 주간/월간 회의 보고자료로 즉시 활용할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🏛️ 법인장 최종 확정 선행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100% 검증 달성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 내 모든 지적사항이 감사실 검증(AUDIT_CONFIRMED)을 마쳐야 법인장 확정이 가능합니다.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법인장 사전 브리핑: </a:t>
            </a:r>
            <a:r>
              <a:rPr sz="1100">
                <a:solidFill>
                  <a:srgbClr val="0F172A"/>
                </a:solidFill>
                <a:latin typeface="Malgun Gothic"/>
              </a:rPr>
              <a:t>전 건 조치 완료 후 법인장에게 최종 확정(CONFIRM) 절차를 안내합니다.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FAQ &amp; TIPS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 대표담당자 실무 FAQ 및 코칭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6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Q1. 담당자가 조치를 상신하지 않고 방치할 때는?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조치 팁: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지적사항의 담당자 부서 및 이름을 확인하고 유선 또는 메신저로 조속한 임시저장 및 CONFIRM을 독려합니다.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시스템 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대표담당자도 필요 시 담당자의 조치내역을 직접 함께 검토할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Q2. 감사팀에서 보완 요청이 왔을 때는?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프로세스: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감사팀이 보완 요청(REJECTED_AUDIT)한 건은 담당자가 내용을 수정하여 다시 대표담당자에게 상신하게 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대표 검토: </a:t>
            </a:r>
            <a:r>
              <a:rPr sz="1100">
                <a:solidFill>
                  <a:srgbClr val="0F172A"/>
                </a:solidFill>
                <a:latin typeface="Malgun Gothic"/>
              </a:rPr>
              <a:t>담당자가 감사팀 요구사항을 정확히 반영했는지 재검토 후 다시 감사팀으로 제출합니다.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Q3. 완료(Completion) 상태인 프로젝트는 대표담당자가 열 수 있나요?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권한 정책: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완료(Completion)된 프로젝트의 Open(완료해제) 권한은 법인장 또는 본사 감사팀에만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요청 방법: </a:t>
            </a:r>
            <a:r>
              <a:rPr sz="1100">
                <a:solidFill>
                  <a:srgbClr val="0F172A"/>
                </a:solidFill>
                <a:latin typeface="Malgun Gothic"/>
              </a:rPr>
              <a:t>긴급한 재검토가 필요한 경우 감사팀에 완료해제(Open)를 공식 요청해야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