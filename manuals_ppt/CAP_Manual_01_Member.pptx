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MEMBER / DEPT_MEMBER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감사 지적사항(CAP) 조치계획 수립 및 증빙 관리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법인 담당자(MEMBER) 및 유관부서(DEPT_MEMBER) 전용 실무 매뉴얼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해외/국내 법인 담당자, 부서별 개선조치 작성자, 유관부서 협조자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ROLE &amp; SCOPE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담당자 및 유관부서의 역할과 책임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👤 법인 담당자 (MEMBER)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지적사항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본인 법인 및 배정된 지적사항(CAP) 내용과 감사팀 요구 마감일 확인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조치계획 수립: </a:t>
            </a:r>
            <a:r>
              <a:rPr sz="1100">
                <a:solidFill>
                  <a:srgbClr val="0F172A"/>
                </a:solidFill>
                <a:latin typeface="Malgun Gothic"/>
              </a:rPr>
              <a:t>구체적인 원인 분석 및 재발방지 개선조치계획 상세 작성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조치상태 설정: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개선중(예상시기 입력) / 개선완료(완료일자 입력) 등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증빙 첨부: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 조치를 입증할 사진, 문서, 공문 등 파일 업로드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5. 확인 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대표담당자(LEAD_REP)에게 검토 및 승인 요청(CONFIRM)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🤝 유관부서 담당자 (DEPT_MEMBER)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타 부서 협조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본인 부서가 유관부서 협조자로 지정된 지적사항 조회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협조 의견 작성: </a:t>
            </a:r>
            <a:r>
              <a:rPr sz="1100">
                <a:solidFill>
                  <a:srgbClr val="0F172A"/>
                </a:solidFill>
                <a:latin typeface="Malgun Gothic"/>
              </a:rPr>
              <a:t>유관부서 협조 내용 입력 박스에 개선 방안 및 지원 의견 등록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실시간 누적 반영: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의견은 기존 조치내역 하단에 박스 형태로 누적 표시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타임라인 기록: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누가 언제 협조 의견을 작성했는지 이력에 영구 기록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5. 진행 모니터링: </a:t>
            </a:r>
            <a:r>
              <a:rPr sz="1100">
                <a:solidFill>
                  <a:srgbClr val="0F172A"/>
                </a:solidFill>
                <a:latin typeface="Malgun Gothic"/>
              </a:rPr>
              <a:t>타 법인/부서의 CAP 조치 진행 현황 열람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⚠️ 핵심 주의사항 (무결성 정책)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완료(Completion) 프로젝트: </a:t>
            </a:r>
            <a:r>
              <a:rPr sz="1100">
                <a:solidFill>
                  <a:srgbClr val="0F172A"/>
                </a:solidFill>
                <a:latin typeface="Malgun Gothic"/>
              </a:rPr>
              <a:t>최종 승인 완료(Completion) 상태인 프로젝트는 수정/업로드 일체 불가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감사실 검증 진행 중: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감사실에 제출되어 검증 대기(PENDING_AUDIT) 중인 건은 조치 수정 불가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마감일 준수: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예상 마감일 이전에 자체 목표 마감일을 수립하고 기한 내 완료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증빙 파일 규격: </a:t>
            </a:r>
            <a:r>
              <a:rPr sz="1100">
                <a:solidFill>
                  <a:srgbClr val="0F172A"/>
                </a:solidFill>
                <a:latin typeface="Malgun Gothic"/>
              </a:rPr>
              <a:t>건당 최대 50MB, 실행파일(.exe, .bat 등) 업로드 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WORKFLOW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개별 지적사항(CAP) 4단계 결재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0713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1단계: 담당자 조치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 (MEMBER)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동작: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조치내용 작성, 증빙 업로드, 마감일자 입력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상태값: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작성중 (DRAFT) ➔ PENDING_LEAD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[임시저장] 또는 [확인 요청 (CONFIRM)]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833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0833" y="1463040"/>
            <a:ext cx="2510713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2단계: 법인대표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대표담당자 (LEAD_REP)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동작: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조치내용 검토 후 감사실 제출 또는 반려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상태값: </a:t>
            </a:r>
            <a:r>
              <a:rPr sz="1100">
                <a:solidFill>
                  <a:srgbClr val="0F172A"/>
                </a:solidFill>
                <a:latin typeface="Malgun Gothic"/>
              </a:rPr>
              <a:t>PENDING_AUDIT 또는 REJECTED_LEAD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반려 시: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사유 확인 후 담당자가 재작성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1463040"/>
            <a:ext cx="2510713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3단계: 감사팀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감사실 (AUDITOR)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동작: </a:t>
            </a:r>
            <a:r>
              <a:rPr sz="1100">
                <a:solidFill>
                  <a:srgbClr val="0F172A"/>
                </a:solidFill>
                <a:latin typeface="Malgun Gothic"/>
              </a:rPr>
              <a:t>현장 및 증빙 검증 심사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상태값: </a:t>
            </a:r>
            <a:r>
              <a:rPr sz="1100">
                <a:solidFill>
                  <a:srgbClr val="0F172A"/>
                </a:solidFill>
                <a:latin typeface="Malgun Gothic"/>
              </a:rPr>
              <a:t>AUDIT_CONFIRMED 또는 REJECTED_AUDIT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보완요청 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코멘트에 따라 보완작성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9461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49461" y="1463040"/>
            <a:ext cx="2510713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9461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4단계: 조치 완료 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자동 잠금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동작: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CAP 공식 종결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상태값: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감사담당자 확인완료 (조치종료)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효과: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최종 확정 대상에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STATUS CODE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조치 상태 코드 선택 기준 및 필수 요건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926080"/>
                <a:gridCol w="2286000"/>
                <a:gridCol w="231617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 코드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 표기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선택 기준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필수 입력 항목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현재 개선 대책을 수립하고 실행 중인 경우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 예상 시기 (목표일자)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설비 교체 발주 진행 중, 익월 납품 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원인 분석 및 개선 대책 실행이 100% 완료된 경우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개선완료일자 + 증빙자료 첨부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규정 개정 및 전 직원 교육 완료 (결과보고서 첨부)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ACTION_IMPOSSIBLE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현지 법규/제도적 한계 등으로 개선이 불가능한 경우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구체적인 사유 기재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현지 토지사용권 규제로 인한 인허가 불가 사유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CONTINUOUS_MANAGEMENT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지속관리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일회성 조치가 아닌 정기적 모니터링이 필요한 경우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향후 관리 방안 및 점검 주기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매월 원자재 재고 실사 및 오차율 지속 점검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UNWRITTEN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초기 감사 지적사항 등록 상태 (작성 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조치내용 작성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미수립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UI GUIDE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조치계획 &amp; 필수 정보 입력 화면 상세 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조회 및 지적사항 선택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법인/프로젝트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조회조건에서 본인 소속 법인과 진행 중인 감사 프로젝트를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그리드 리스트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테이블에서 본인에게 배정된 지적사항을 클릭하여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스텝 바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4단계 스텝 바를 통해 현재 결재 진행 상태(작성중/검증대기 등)를 한눈에 파악합니다.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에디터 및 증빙 파일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Rich Text 에디터: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글자 굵기, 색상, 글머리 기호, 표(Table) 삽입 기능을 활용하여 가독성 있게 작성합니다.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다중 파일 업로드: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증빙 첨부 영역에서 [파일 선택]으로 여러 파일을 동시 선택(Ctrl+클릭) 후 [업로드]합니다.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파일 다운로드/삭제: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파일명을 클릭해 다운로드하고, 잘못 올린 파일은 즉시 삭제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임시저장 및 상신(CONFIRM)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[임시저장]: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작성 중인 내용을 중간 저장합니다. 결재 단계는 넘어가지 않으며 계속 수정 가능합니다.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[확인 요청 (CONFIRM)]: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작성이 완전히 완료되면 클릭하여 법인 대표담당자에게 상신합니다.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유관부서 협조: </a:t>
            </a:r>
            <a:r>
              <a:rPr sz="1100">
                <a:solidFill>
                  <a:srgbClr val="0F172A"/>
                </a:solidFill>
                <a:latin typeface="Malgun Gothic"/>
              </a:rPr>
              <a:t>유관부서 담당자는 하단 협조 박스에 의견을 작성하고 [협조 내용 등록]을 클릭합니다.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ITERATION &amp; HISTORY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이력 타임라인 열람 및 반려/보완 요청 대처 요령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6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📜 누적 이력 타임라인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처리 이력 추적: </a:t>
            </a:r>
            <a:r>
              <a:rPr sz="1100">
                <a:solidFill>
                  <a:srgbClr val="0F172A"/>
                </a:solidFill>
                <a:latin typeface="Malgun Gothic"/>
              </a:rPr>
              <a:t>언제, 누가, 어떤 조치를 등록하고 결재했는지 시간순으로 모두 누적됩니다.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당시 조치내용 스냅샷: </a:t>
            </a:r>
            <a:r>
              <a:rPr sz="1100">
                <a:solidFill>
                  <a:srgbClr val="0F172A"/>
                </a:solidFill>
                <a:latin typeface="Malgun Gothic"/>
              </a:rPr>
              <a:t>반려 또는 승인 당시 작성되었던 조치 원본 텍스트를 클릭하여 그대로 대조 열람할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투명한 변경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 피드백 및 유관부서 협조 의견이 누락 없이 기록됩니다.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↩️ 대표담당자 재수정 요청 (REJECTED_LEAD)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상태 뱃지가 주황색 '대표담당자 재수정 요청'으로 변경됩니다.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반려 사유 검토: </a:t>
            </a:r>
            <a:r>
              <a:rPr sz="1100">
                <a:solidFill>
                  <a:srgbClr val="0F172A"/>
                </a:solidFill>
                <a:latin typeface="Malgun Gothic"/>
              </a:rPr>
              <a:t>타임라인 상단 또는 알림에 표시된 법인대표의 반려 코멘트를 정밀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및 재상신: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지적된 미흡 사항을 보완하고 증빙을 보충한 뒤 다시 [확인 요청 (CONFIRM)]을 클릭합니다.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⚠️ 감사실 재작성 요청 (REJECTED_AUDIT)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상태 뱃지가 붉은색 '감사실 재작성 요청 (보완)'으로 변경됩니다.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감사관 의견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감사팀이 요구한 보완 요구사항 및 지적 근거를 면밀히 분석합니다.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근본 개선 및 재제출: </a:t>
            </a:r>
            <a:r>
              <a:rPr sz="1100">
                <a:solidFill>
                  <a:srgbClr val="0F172A"/>
                </a:solidFill>
                <a:latin typeface="Malgun Gothic"/>
              </a:rPr>
              <a:t>단순 형식 수정이 아닌 실질적 개선 대책을 기술한 후 다시 상신합니다.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FAQ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자주 묻는 질문 (FAQ) 및 실무 유의사항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7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조치내용 수정창이 비활성화(회색)되어 있어요.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원인 A: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최종 승인되어 '완료(Completion)' 상태인 경우 데이터가 잠깁니다.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원인 B: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감사실에 제출되어 '감사실 검증대기' 또는 '검증완료' 상태인 경우 수정할 수 없습니다.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해결 방법: </a:t>
            </a:r>
            <a:r>
              <a:rPr sz="1100">
                <a:solidFill>
                  <a:srgbClr val="0F172A"/>
                </a:solidFill>
                <a:latin typeface="Malgun Gothic"/>
              </a:rPr>
              <a:t>수정이 반드시 필요한 경우 법인 대표담당자 또는 감사팀에 반려 요청을 하시기 바랍니다.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증빙 파일 업로드 버튼이 차단되어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원인: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완료(Completion) 상태이거나 감사실 검증 중/완료된 건은 임의의 증빙 변경이 차단됩니다.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규정 안내: </a:t>
            </a:r>
            <a:r>
              <a:rPr sz="1100">
                <a:solidFill>
                  <a:srgbClr val="0F172A"/>
                </a:solidFill>
                <a:latin typeface="Malgun Gothic"/>
              </a:rPr>
              <a:t>증빙 파일은 조치 작성 중(DRAFT) 또는 반려 상태에서만 자유롭게 추가/삭제할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개선완료인데 개선완료일자를 안 넣으면 어떻게 되나요?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시스템 검증: </a:t>
            </a:r>
            <a:r>
              <a:rPr sz="1100">
                <a:solidFill>
                  <a:srgbClr val="0F172A"/>
                </a:solidFill>
                <a:latin typeface="Malgun Gothic"/>
              </a:rPr>
              <a:t>'개선완료' 선택 시 개선완료일자 입력이 필수 검증으로 지정되어 있어 상신되지 않습니다.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조치 방법: </a:t>
            </a:r>
            <a:r>
              <a:rPr sz="1100">
                <a:solidFill>
                  <a:srgbClr val="0F172A"/>
                </a:solidFill>
                <a:latin typeface="Malgun Gothic"/>
              </a:rPr>
              <a:t>실제 조치가 완료된 날짜를 Datepicker에서 선택하고 증빙을 첨부하여 상신하세요.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