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9728" cy="292608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7C8"/>
                </a:solidFill>
                <a:latin typeface="Malgun Gothic"/>
              </a:defRPr>
            </a:pPr>
            <a:r>
              <a:t>  SYSTEM_ADMIN 사용자 전용 매뉴얼  </a:t>
            </a:r>
          </a:p>
          <a:p>
            <a:pPr>
              <a:spcBef>
                <a:spcPts val="1400"/>
              </a:spcBef>
              <a:spcAft>
                <a:spcPts val="1000"/>
              </a:spcAft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사용자 계정, 화면 메뉴 및 역할별 권한 매트릭스 관리</a:t>
            </a:r>
          </a:p>
          <a:p>
            <a:pPr>
              <a:defRPr sz="1600">
                <a:solidFill>
                  <a:srgbClr val="CBD5E1"/>
                </a:solidFill>
                <a:latin typeface="Malgun Gothic"/>
              </a:defRPr>
            </a:pPr>
            <a:r>
              <a:t>시스템 관리자(SYSTEM_ADMIN) 전용 운영 매뉴얼</a:t>
            </a:r>
          </a:p>
          <a:p>
            <a:pPr>
              <a:spcBef>
                <a:spcPts val="2400"/>
              </a:spcBef>
              <a:defRPr sz="1300">
                <a:solidFill>
                  <a:srgbClr val="94A3B8"/>
                </a:solidFill>
                <a:latin typeface="Malgun Gothic"/>
              </a:defRPr>
            </a:pPr>
            <a:r>
              <a:t>📌 적용 대상: CAP 시스템 마스터 관리자, IT 운영자</a:t>
            </a:r>
          </a:p>
          <a:p>
            <a:pPr>
              <a:spcBef>
                <a:spcPts val="10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글로벌 세아(SAE-A) 감사실 | Version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ADMIN SCOPE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시스템 관리자(SYSTEM_ADMIN) 3대 핵심 관리 영역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2 /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3818" cy="502920"/>
          </a:xfrm>
          <a:prstGeom prst="round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👤 사용자 계정 관리 (/users)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신규 계정 승인: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회원가입 요청 건의 가입 승인 및 반려 처리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역할(Role) 배정: </a:t>
            </a:r>
            <a:r>
              <a:rPr sz="1100">
                <a:solidFill>
                  <a:srgbClr val="0F172A"/>
                </a:solidFill>
                <a:latin typeface="Malgun Gothic"/>
              </a:rPr>
              <a:t>MEMBER, LEAD_REP, CORP_HEAD, AUDITOR, AUDIT_LEADER, ADMIN 지정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법인/부서 매핑: </a:t>
            </a:r>
            <a:r>
              <a:rPr sz="1100">
                <a:solidFill>
                  <a:srgbClr val="0F172A"/>
                </a:solidFill>
                <a:latin typeface="Malgun Gothic"/>
              </a:rPr>
              <a:t>사용자의 소속 법인 코드 및 부서명 입력/수정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계정 잠금/활성화: </a:t>
            </a:r>
            <a:r>
              <a:rPr sz="1100">
                <a:solidFill>
                  <a:srgbClr val="0F172A"/>
                </a:solidFill>
                <a:latin typeface="Malgun Gothic"/>
              </a:rPr>
              <a:t>퇴사자 또는 휴직자 계정 비활성화 및 비밀번호 재설정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3938" y="1463040"/>
            <a:ext cx="3423818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3938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🖥️ 화면 / 메뉴 관리 (/menus)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동적 메뉴 관리: </a:t>
            </a:r>
            <a:r>
              <a:rPr sz="1100">
                <a:solidFill>
                  <a:srgbClr val="0F172A"/>
                </a:solidFill>
                <a:latin typeface="Malgun Gothic"/>
              </a:rPr>
              <a:t>사이드바 메뉴의 등록, 수정, 삭제를 UI에서 동적으로 제어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메뉴 그룹 및 순서: </a:t>
            </a:r>
            <a:r>
              <a:rPr sz="1100">
                <a:solidFill>
                  <a:srgbClr val="0F172A"/>
                </a:solidFill>
                <a:latin typeface="Malgun Gothic"/>
              </a:rPr>
              <a:t>감사 업무 관리 / 시스템 관리 그룹화 및 노출 순서(sort_order) 조정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화면 형태 지정: </a:t>
            </a:r>
            <a:r>
              <a:rPr sz="1100">
                <a:solidFill>
                  <a:srgbClr val="0F172A"/>
                </a:solidFill>
                <a:latin typeface="Malgun Gothic"/>
              </a:rPr>
              <a:t>내부 라우팅(INTERNAL) 및 외부 링크(EXTERNAL) 지원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활성화 토글: </a:t>
            </a:r>
            <a:r>
              <a:rPr sz="1100">
                <a:solidFill>
                  <a:srgbClr val="0F172A"/>
                </a:solidFill>
                <a:latin typeface="Malgun Gothic"/>
              </a:rPr>
              <a:t>메뉴별 즉시 활성화/비활성화 스위치 제공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36356" y="1463040"/>
            <a:ext cx="3423818" cy="50292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1463040"/>
            <a:ext cx="342381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🔐 역할별 권한 매트릭스 (/permissions)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9236" y="2057400"/>
            <a:ext cx="305805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2차원 매트릭스 그리드: </a:t>
            </a:r>
            <a:r>
              <a:rPr sz="1100">
                <a:solidFill>
                  <a:srgbClr val="0F172A"/>
                </a:solidFill>
                <a:latin typeface="Malgun Gothic"/>
              </a:rPr>
              <a:t>세로축(화면 메뉴) x 가로축(사용자 역할) 권한 매트릭스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체크박스 권한 제어: </a:t>
            </a:r>
            <a:r>
              <a:rPr sz="1100">
                <a:solidFill>
                  <a:srgbClr val="0F172A"/>
                </a:solidFill>
                <a:latin typeface="Malgun Gothic"/>
              </a:rPr>
              <a:t>체크박스 클릭 한 번으로 특정 역할의 화면 접근 권한 즉시 부여/회수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실시간 반영: </a:t>
            </a:r>
            <a:r>
              <a:rPr sz="1100">
                <a:solidFill>
                  <a:srgbClr val="0F172A"/>
                </a:solidFill>
                <a:latin typeface="Malgun Gothic"/>
              </a:rPr>
              <a:t>권한 변경 시 재시작 없이 사용자 화면에 즉시 적용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USER MANAGEMENT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사용자 계정 생성, 승인 및 보안 관리 상세 가이드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3 /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1. 회원가입 승인 절차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가입 요청 확인: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계정 관리 화면 상단에서 '승인 대기(PENDING)' 상태인 계정 목록을 조회합니다.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정보 검증: </a:t>
            </a:r>
            <a:r>
              <a:rPr sz="1100">
                <a:solidFill>
                  <a:srgbClr val="0F172A"/>
                </a:solidFill>
                <a:latin typeface="Malgun Gothic"/>
              </a:rPr>
              <a:t>사번, 성명, 이메일, 소속 법인 정보가 적합한지 확인합니다.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역할 부여 및 승인: </a:t>
            </a:r>
            <a:r>
              <a:rPr sz="1100">
                <a:solidFill>
                  <a:srgbClr val="0F172A"/>
                </a:solidFill>
                <a:latin typeface="Malgun Gothic"/>
              </a:rPr>
              <a:t>해당 임직원의 업무에 맞는 역할(Role)을 지정하고 [승인] 버튼을 클릭합니다.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2. 신규 계정 직접 생성 (관리자 등록)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직접 등록 폼: </a:t>
            </a:r>
            <a:r>
              <a:rPr sz="1100">
                <a:solidFill>
                  <a:srgbClr val="0F172A"/>
                </a:solidFill>
                <a:latin typeface="Malgun Gothic"/>
              </a:rPr>
              <a:t>아이디(사번), 성명, 이메일, 초기 비밀번호를 입력합니다.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법인 및 부서: </a:t>
            </a:r>
            <a:r>
              <a:rPr sz="1100">
                <a:solidFill>
                  <a:srgbClr val="0F172A"/>
                </a:solidFill>
                <a:latin typeface="Malgun Gothic"/>
              </a:rPr>
              <a:t>소속 법인(필수)과 부서명을 입력합니다. (법인 코드는 DB 격리 기준이 됩니다)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역할 선택: </a:t>
            </a:r>
            <a:r>
              <a:rPr sz="1100">
                <a:solidFill>
                  <a:srgbClr val="0F172A"/>
                </a:solidFill>
                <a:latin typeface="Malgun Gothic"/>
              </a:rPr>
              <a:t>MEMBER / LEAD_REP / CORP_HEAD / AUDITOR 등 적합한 역할을 부여하고 저장합니다.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9236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3. 비밀번호 초기화 및 보안 관리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비밀번호 재설정: </a:t>
            </a:r>
            <a:r>
              <a:rPr sz="1100">
                <a:solidFill>
                  <a:srgbClr val="0F172A"/>
                </a:solidFill>
                <a:latin typeface="Malgun Gothic"/>
              </a:rPr>
              <a:t>비밀번호를 분실한 사용자에 대해 안전한 임시 비밀번호를 재발급합니다.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• OTP 관리: </a:t>
            </a:r>
            <a:r>
              <a:rPr sz="1100">
                <a:solidFill>
                  <a:srgbClr val="0F172A"/>
                </a:solidFill>
                <a:latin typeface="Malgun Gothic"/>
              </a:rPr>
              <a:t>OTP 등록 초기화가 필요한 경우 보안 설정을 리셋 지원합니다.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ROLE PERMISSIONS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시스템 화면별 권장 권한 매트릭스 기준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4 / 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4937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  <a:gridCol w="2499055"/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메뉴명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경로 (/URL)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권장 허용 역할 (Role)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비고</a:t>
                      </a:r>
                    </a:p>
                  </a:txBody>
                  <a:tcPr anchor="ctr">
                    <a:solidFill>
                      <a:srgbClr val="0C1B30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프로젝트 신규 등록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/projects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SYSTEM_ADMIN, AUDIT_LEADER, AUDITOR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감사팀 전용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감사 조치계획 입력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/action-plans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전 역할 (MEMBER, DEPT_MEMBER, LEAD_REP, CORP_HEAD, 감사팀)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공통 조치 화면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감사 지적사항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/findings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SYSTEM_ADMIN, AUDIT_LEADER, AUDITOR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감사팀 전용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법인장 프로젝트 최종 확정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/head-final-approval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SYSTEM_ADMIN, CORP_HEAD, AUDIT_LEADER, AUDITOR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법인장 및 감사팀 전용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법인별 조치율 보고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/reports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전 역할 (읽기 권한 등 차등)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모니터링 대시보드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사용자 계정 관리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/users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SYSTEM_ADMIN, AUDIT_LEADER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관리자 전용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화면 / 메뉴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/menus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SYSTEM_ADMIN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시스템 관리자 전용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역할별 화면 접근 관리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/permissions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SYSTEM_ADMIN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시스템 관리자 전용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7C8"/>
                </a:solidFill>
                <a:latin typeface="Malgun Gothic"/>
              </a:defRPr>
            </a:pPr>
            <a:r>
              <a:t>ADMIN FAQ</a:t>
            </a:r>
          </a:p>
          <a:p>
            <a:pPr>
              <a:defRPr sz="2000" b="1">
                <a:solidFill>
                  <a:srgbClr val="0C1B30"/>
                </a:solidFill>
                <a:latin typeface="Malgun Gothic"/>
              </a:defRPr>
            </a:pPr>
            <a:r>
              <a:t>시스템 관리자 실무 점검 체크포인트 및 비상 대응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077C8"/>
          </a:solidFill>
          <a:ln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글로벌 세아(SAE-A) 감사 지적사항(CAP) 관리 시스템 사용자 매뉴얼   |   5 /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475488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Q1. 사용자가 메뉴가 안 보인다고 문의할 때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점검 1: </a:t>
            </a:r>
            <a:r>
              <a:rPr sz="1100">
                <a:solidFill>
                  <a:srgbClr val="0F172A"/>
                </a:solidFill>
                <a:latin typeface="Malgun Gothic"/>
              </a:rPr>
              <a:t>[사용자 계정 관리]에서 해당 사용자의 '역할(Role)'이 정확히 부여되어 있는지 확인합니다.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점검 2: </a:t>
            </a:r>
            <a:r>
              <a:rPr sz="1100">
                <a:solidFill>
                  <a:srgbClr val="0F172A"/>
                </a:solidFill>
                <a:latin typeface="Malgun Gothic"/>
              </a:rPr>
              <a:t>[역할별 화면 접근 관리] 매트릭스에서 해당 역할과 해당 메뉴의 체크박스가 체크되어 있는지 확인합니다.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75488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Q2. 법인 담당자가 타 법인 데이터가 안 보인다고 할 때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정상 동작 안내: </a:t>
            </a:r>
            <a:r>
              <a:rPr sz="1100">
                <a:solidFill>
                  <a:srgbClr val="0F172A"/>
                </a:solidFill>
                <a:latin typeface="Malgun Gothic"/>
              </a:rPr>
              <a:t>본 시스템은 법인 데이터 격리 정책에 따라 본인 소속 법인의 데이터만 보이는 것이 정상 동작입니다.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다중 법인 조치 필요 시: </a:t>
            </a:r>
            <a:r>
              <a:rPr sz="1100">
                <a:solidFill>
                  <a:srgbClr val="0F172A"/>
                </a:solidFill>
                <a:latin typeface="Malgun Gothic"/>
              </a:rPr>
              <a:t>해당 사용자를 지적사항의 '유관부서 협조자' 또는 프로젝트 접근 허용 인원으로 등록해 주어야 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6356" y="1463040"/>
            <a:ext cx="3423818" cy="475488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9236" y="1645920"/>
            <a:ext cx="305805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C1B30"/>
                </a:solidFill>
                <a:latin typeface="Malgun Gothic"/>
              </a:defRPr>
            </a:pPr>
            <a:r>
              <a:t>Q3. 비상 시 결재 강제 처리 권한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  <a:latin typeface="Malgun Gothic"/>
              </a:rPr>
              <a:t>관리자 특권: </a:t>
            </a:r>
            <a:r>
              <a:rPr sz="1100">
                <a:solidFill>
                  <a:srgbClr val="0F172A"/>
                </a:solidFill>
                <a:latin typeface="Malgun Gothic"/>
              </a:rPr>
              <a:t>시스템 관리자(`SYSTEM_ADMIN`)는 법인장 부재나 긴급 마감 시 모든 결재 단계(법인대표 승인, 법인장 확정, 감사팀 완료)를 강제 대행할 수 있는 마스터 권한을 보유합니다.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