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" cy="29260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7C8"/>
                </a:solidFill>
                <a:latin typeface="Malgun Gothic"/>
              </a:defRPr>
            </a:pPr>
            <a:r>
              <a:t>  AUDITOR / AUDIT_LEADER 사용자 전용 매뉴얼  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감사 프로젝트 운영, CAP 검증 심사 및 최종 완료 관리</a:t>
            </a:r>
          </a:p>
          <a:p>
            <a:pPr>
              <a:defRPr sz="1600">
                <a:solidFill>
                  <a:srgbClr val="CBD5E1"/>
                </a:solidFill>
                <a:latin typeface="Malgun Gothic"/>
              </a:defRPr>
            </a:pPr>
            <a:r>
              <a:t>감사담당자(AUDITOR) 및 감사책임자(AUDIT_LEADER) 전용 실무 매뉴얼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  <a:latin typeface="Malgun Gothic"/>
              </a:defRPr>
            </a:pPr>
            <a:r>
              <a:t>📌 적용 대상: 본사 감사실 전 임직원, 감사 검증 및 프로젝트 총괄 관리자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글로벌 세아(SAE-A) 감사실 | 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ROLE &amp; SCOPE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감사실(담당자 및 책임자)의 역할과 핵심 권한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2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🔍 감사 담당자 (AUDITOR)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1. 프로젝트 신규 등록: </a:t>
            </a:r>
            <a:r>
              <a:rPr sz="1100">
                <a:solidFill>
                  <a:srgbClr val="0F172A"/>
                </a:solidFill>
                <a:latin typeface="Malgun Gothic"/>
              </a:rPr>
              <a:t>연도_법인명 규칙 기반 프로젝트 개설 및 마감일(1차) 단일 지정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2. CAP 지적사항 등록/수정: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카테고리 분류, 다중 감사자 지정, 법인 조치담당자 지정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3. 법인 조치내용 심사 검증: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법인이 제출한 조치내역과 증빙을 검증하여 [감사 검증완료] 또는 [보완 요청]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4. 프로젝트 조치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최종 확정 건에 대해 2단계 확인 수행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⚖️ 감사 책임자 (AUDIT_LEADER)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1. 감사 프로젝트 총괄: </a:t>
            </a:r>
            <a:r>
              <a:rPr sz="1100">
                <a:solidFill>
                  <a:srgbClr val="0F172A"/>
                </a:solidFill>
                <a:latin typeface="Malgun Gothic"/>
              </a:rPr>
              <a:t>전사 법인별 감사 진행 현황 및 조치율 모니터링 총괄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2. 최종 승인 및 완료(Completion):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최종 확정 프로젝트의 최종 승인 및 데이터 완료(Completion) 락 실행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3. 즉시 최종 확정 권한: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필요 시 담당자 확인과 동시에 즉시 최종 확정 및 완료(Completion) 실행 가능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4. 완료 해제(Open) 제어: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완료된 프로젝트의 안전한 재오픈(Open) 승인 및 제어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🔄 차기 연계 승계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1. 모태 프로젝트 지정: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완료(Completion) 상태인 프로젝트를 기반으로 차기 차수 개설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2. 개선완료 건 자동 제외: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완료된 CAP은 자동 종결 처리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3. 미완료 건 자동 승계: </a:t>
            </a:r>
            <a:r>
              <a:rPr sz="1100">
                <a:solidFill>
                  <a:srgbClr val="0F172A"/>
                </a:solidFill>
                <a:latin typeface="Malgun Gothic"/>
              </a:rPr>
              <a:t>개선중/개선불가/지속관리 건은 신규 프로젝트로 자동 복제 승계하여 지속 관리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PROJECT MANAGEMENT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1] 프로젝트 신규 등록 및 완료 프로젝트 기반 승계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3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1. 신규 감사 프로젝트 등록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명명 규칙: </a:t>
            </a:r>
            <a:r>
              <a:rPr sz="1100">
                <a:solidFill>
                  <a:srgbClr val="0F172A"/>
                </a:solidFill>
                <a:latin typeface="Malgun Gothic"/>
              </a:rPr>
              <a:t>'연도_법인명' 필수 준수 (예: 2026_법인A).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대상 법인 선택: </a:t>
            </a:r>
            <a:r>
              <a:rPr sz="1100">
                <a:solidFill>
                  <a:srgbClr val="0F172A"/>
                </a:solidFill>
                <a:latin typeface="Malgun Gothic"/>
              </a:rPr>
              <a:t>피감 법인 코드 지정 (법인 격리 기준).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마감일 단일화: </a:t>
            </a:r>
            <a:r>
              <a:rPr sz="1100">
                <a:solidFill>
                  <a:srgbClr val="0F172A"/>
                </a:solidFill>
                <a:latin typeface="Malgun Gothic"/>
              </a:rPr>
              <a:t>1차 마감일 1개만 명확히 지정하여 혼선 방지.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담당자 다중 배정: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내 접근 허용 담당자 및 타 부서 유관 협조자를 체크박스로 다중 지정.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2. 완료(Completion) 프로젝트 기반 차기 프로젝트 개설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모태 프로젝트 선택: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완료(Completion) 처리된 이전 프로젝트를 선택합니다.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승계 분석 결과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시스템이 총 CAP 건수, 제외 대상(개선완료), 승계 대상(미완료)을 자동 산출합니다.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차수 자동 증가: </a:t>
            </a:r>
            <a:r>
              <a:rPr sz="1100">
                <a:solidFill>
                  <a:srgbClr val="0F172A"/>
                </a:solidFill>
                <a:latin typeface="Malgun Gothic"/>
              </a:rPr>
              <a:t>1차 ➔ 2차 명칭 자동 추천 (예: 2026_법인A_2차).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차기 마감일 설정: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새로운 차수의 마감기한을 설정하고 [생성 및 승계]를 실행합니다.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3. 승계된 CAP의 상태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작성중(DRAFT) 초기화: </a:t>
            </a:r>
            <a:r>
              <a:rPr sz="1100">
                <a:solidFill>
                  <a:srgbClr val="0F172A"/>
                </a:solidFill>
                <a:latin typeface="Malgun Gothic"/>
              </a:rPr>
              <a:t>승계된 CAP은 DRAFT 상태로 초기화되어 피감 법인이 2차 답변을 작성할 수 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이전 원천 이력 연계: </a:t>
            </a:r>
            <a:r>
              <a:rPr sz="1100">
                <a:solidFill>
                  <a:srgbClr val="0F172A"/>
                </a:solidFill>
                <a:latin typeface="Malgun Gothic"/>
              </a:rPr>
              <a:t>원천 CAP ID 및 이전 차수의 조치 이력이 연결되어 히스토리가 보존됩니다.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FINDINGS (CAP)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3] 감사 지적사항(CAP) 신규 등록 및 수정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4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1. 카테고리 관리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분류 체계: </a:t>
            </a:r>
            <a:r>
              <a:rPr sz="1100">
                <a:solidFill>
                  <a:srgbClr val="0F172A"/>
                </a:solidFill>
                <a:latin typeface="Malgun Gothic"/>
              </a:rPr>
              <a:t>재무, IT보안, 컴플라이언스, 환경/안전, 인사노무 등 대분류 관리.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동적 관리: </a:t>
            </a:r>
            <a:r>
              <a:rPr sz="1100">
                <a:solidFill>
                  <a:srgbClr val="0F172A"/>
                </a:solidFill>
                <a:latin typeface="Malgun Gothic"/>
              </a:rPr>
              <a:t>[카테고리 관리] 모달을 통해 신규 카테고리를 추가/수정/삭제 가능.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2. 지적사항 등록 및 정보 지정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제목 및 내용: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 발견사항(Finding)의 사실관계 및 지적 근거 상세 기재.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담당 감사자 지정: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복수의 감사자를 다중 지정하여 공동 감사 수행 지원.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피감법인 담당자 지정: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조치를 담당할 법인 직원의 사번/이름/부서 매핑.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감사팀 예상 마감일: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감사팀이 요구하는 조치 권고 기한 설정.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3. 지적사항 수정 및 삭제 규정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상시 수정 권한: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감사팀은 필요 시 법인 담당자 및 유관부서를 언제든지 변경/추가 가능.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완료 프로젝트 제한: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단, 완료(Completion) 상태인 프로젝트의 지적사항은 삭제 및 수정이 원천 차단됩니다.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AUDIT REVIEW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2] 법인 조치내용 검증 심사 및 피드백 절차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5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📋 1. 감사실 검증 대기 건 심사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필터: </a:t>
            </a:r>
            <a:r>
              <a:rPr sz="1100">
                <a:solidFill>
                  <a:srgbClr val="0F172A"/>
                </a:solidFill>
                <a:latin typeface="Malgun Gothic"/>
              </a:rPr>
              <a:t>그리드에서 보라색 '감사실 검증대기 (PENDING_AUDIT)' 건을 조회합니다.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종합 심사: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담당자의 원인 분석, 조치 결과, 증빙자료, 유관부서 협조 내용을 정밀 검토합니다.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첨부 증빙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등록된 증빙 파일을 다운로드하여 위변조 여부 및 실효성을 점검합니다.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✅ 2. 감사 검증완료 (CONFIRM)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심사 통과: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조치가 충분하고 입증된 경우 [감사 검증완료 (CONFIRM)] 버튼을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코멘트 입력: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 검증 의견을 기재하고 완료 처리합니다.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효과: </a:t>
            </a:r>
            <a:r>
              <a:rPr sz="1100">
                <a:solidFill>
                  <a:srgbClr val="0F172A"/>
                </a:solidFill>
                <a:latin typeface="Malgun Gothic"/>
              </a:rPr>
              <a:t>해당 지적사항은 공식 '조치종료(AUDIT_CONFIRMED)' 상태로 전환되며 법인장 최종 확정 대상 건으로 승격됩니다.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↩️ 3. 감사실 재작성 요청 (보완: REJECT)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미흡 판정: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조치가 미흡하거나 증빙이 부족한 경우 [재작성 요청 (보완)]을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보완 사유 필수: </a:t>
            </a:r>
            <a:r>
              <a:rPr sz="1100">
                <a:solidFill>
                  <a:srgbClr val="0F172A"/>
                </a:solidFill>
                <a:latin typeface="Malgun Gothic"/>
              </a:rPr>
              <a:t>구체적인 반려 이유와 보완 방향을 코멘트에 반드시 기재합니다.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이터레이션: </a:t>
            </a:r>
            <a:r>
              <a:rPr sz="1100">
                <a:solidFill>
                  <a:srgbClr val="0F172A"/>
                </a:solidFill>
                <a:latin typeface="Malgun Gothic"/>
              </a:rPr>
              <a:t>담당자에게 '감사실 재작성 요청 (REJECTED_AUDIT)' 상태로 이관되어 타임라인에 누적됩니다.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FINAL APPROVAL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8] 프로젝트 최종 승인 및 완료(Completion) 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6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1. 법인장 확정 완료 건 확인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메뉴 이동: </a:t>
            </a:r>
            <a:r>
              <a:rPr sz="1100">
                <a:solidFill>
                  <a:srgbClr val="0F172A"/>
                </a:solidFill>
                <a:latin typeface="Malgun Gothic"/>
              </a:rPr>
              <a:t>[프로젝트 최종 검증 및 확정] 전용 화면으로 이동합니다.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필터 조회: </a:t>
            </a:r>
            <a:r>
              <a:rPr sz="1100">
                <a:solidFill>
                  <a:srgbClr val="0F172A"/>
                </a:solidFill>
                <a:latin typeface="Malgun Gothic"/>
              </a:rPr>
              <a:t>결재 상태 필터에서 '확정 완료 건'을 선택하거나 전체 프로젝트를 조회합니다.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선행 조건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1단계 확정(HEAD_CONFIRMED)이 완료되었는지 확인합니다.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2. 감사팀 최종 승인 및 완료(Completion) 실행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패널 상태: </a:t>
            </a:r>
            <a:r>
              <a:rPr sz="1100">
                <a:solidFill>
                  <a:srgbClr val="0F172A"/>
                </a:solidFill>
                <a:latin typeface="Malgun Gothic"/>
              </a:rPr>
              <a:t>우측 2단계 감사팀 패널에 녹색 '완료 가능' 뱃지가 활성화됩니다.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[Completion 실행]: </a:t>
            </a:r>
            <a:r>
              <a:rPr sz="1100">
                <a:solidFill>
                  <a:srgbClr val="0F172A"/>
                </a:solidFill>
                <a:latin typeface="Malgun Gothic"/>
              </a:rPr>
              <a:t>[감사팀 최종 승인 및 완료 (Completion 실행)] 버튼을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최종 승인 의견: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 종합 감사 의견을 입력하고 확인을 누릅니다.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전환: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프로젝트가 '완료(Completion)' 상태로 안전하게 락(Lock) 처리됩니다.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3. 내용 미흡 시 보완 요청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보완 요청 기능: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확정 후라도 내용 재검토가 필요하면 [보완 요청]을 클릭할 수 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사유 입력: </a:t>
            </a:r>
            <a:r>
              <a:rPr sz="1100">
                <a:solidFill>
                  <a:srgbClr val="0F172A"/>
                </a:solidFill>
                <a:latin typeface="Malgun Gothic"/>
              </a:rPr>
              <a:t>보완 사유를 입력하면 프로젝트가 다시 오픈(OPEN) 상태로 전환되어 재조치가 가능해집니다.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MONITORING &amp; QUICK ACTION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4] 전사 조치율 보고 및 감사책임자 즉시 완료/오픈 제어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7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📊 전사 모니터링 및 엑셀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종합 현황판: </a:t>
            </a:r>
            <a:r>
              <a:rPr sz="1100">
                <a:solidFill>
                  <a:srgbClr val="0F172A"/>
                </a:solidFill>
                <a:latin typeface="Malgun Gothic"/>
              </a:rPr>
              <a:t>전체 법인의 CAP 진행률, 감사 검증률, 완료(Completion) 프로젝트 현황 실시간 집계.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다차원 필터: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법인별, 기간별, 프로젝트 상태(OPEN/FREEZE)별 정밀 검색 지원.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엑셀 보고서: </a:t>
            </a:r>
            <a:r>
              <a:rPr sz="1100">
                <a:solidFill>
                  <a:srgbClr val="0F172A"/>
                </a:solidFill>
                <a:latin typeface="Malgun Gothic"/>
              </a:rPr>
              <a:t>전체 통계 및 지적사항 데이터를 원클릭 엑셀(.xlsx)로 다운로드.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⚡ 감사책임자 즉시 최종 완료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담당자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테이블 액션 열에서 [담당자 내용 확인] 모달을 통해 조치내용 즉시 점검.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원스톱 완료: </a:t>
            </a:r>
            <a:r>
              <a:rPr sz="1100">
                <a:solidFill>
                  <a:srgbClr val="0F172A"/>
                </a:solidFill>
                <a:latin typeface="Malgun Gothic"/>
              </a:rPr>
              <a:t>확인 모달 내 [확인 및 즉시 최종 완료 (Completion)] 버튼을 통해 별도 화면 이동 없이 즉시 최종 승인 처리 지원.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🔓 프로젝트 완료 해제 (Open)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완료해제(Open) 실행: </a:t>
            </a:r>
            <a:r>
              <a:rPr sz="1100">
                <a:solidFill>
                  <a:srgbClr val="0F172A"/>
                </a:solidFill>
                <a:latin typeface="Malgun Gothic"/>
              </a:rPr>
              <a:t>이미 완료된 프로젝트라도 추가 증빙 반영 등 불가피한 사유 발생 시 [완료해제(Open)] 버튼으로 재오픈 가능.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작업 후 재완료: </a:t>
            </a:r>
            <a:r>
              <a:rPr sz="1100">
                <a:solidFill>
                  <a:srgbClr val="0F172A"/>
                </a:solidFill>
                <a:latin typeface="Malgun Gothic"/>
              </a:rPr>
              <a:t>보완 작업이 완료되면 다시 최종 승인 및 완료(Completion) 실행.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FAQ &amp; PRINCIPLES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감사팀 실무 FAQ 및 시스템 운영 원칙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8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Q1. 법인장 확정 전에 감사팀이 먼저 완료(Completion)할 수 있나요?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원칙: </a:t>
            </a:r>
            <a:r>
              <a:rPr sz="1100">
                <a:solidFill>
                  <a:srgbClr val="0F172A"/>
                </a:solidFill>
                <a:latin typeface="Malgun Gothic"/>
              </a:rPr>
              <a:t>원칙적으로 법인장의 최종 확정(HEAD_CONFIRMED)이 선행되어야 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예외 권한: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단, 감사책임자(AUDIT_LEADER) 및 시스템관리자(SYSTEM_ADMIN)는 긴급 종결이 필요한 경우 즉시 최종 승인 및 완료(Completion) 처리가 가능하도록 권한이 부여되어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Q2. 승계 프로젝트 생성 시 완료된 CAP이 포함되나요?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자동 필터링: </a:t>
            </a:r>
            <a:r>
              <a:rPr sz="1100">
                <a:solidFill>
                  <a:srgbClr val="0F172A"/>
                </a:solidFill>
                <a:latin typeface="Malgun Gothic"/>
              </a:rPr>
              <a:t>'개선완료(COMPLETED)'된 건은 완전히 종결되어 차기 프로젝트에서 자동 제외됩니다.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승계 대상: </a:t>
            </a:r>
            <a:r>
              <a:rPr sz="1100">
                <a:solidFill>
                  <a:srgbClr val="0F172A"/>
                </a:solidFill>
                <a:latin typeface="Malgun Gothic"/>
              </a:rPr>
              <a:t>개선중, 개선불가, 지속관리 건만 선별 승계되어 차기 차수에서 관리됩니다.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Q3. 감사자가 지적사항 내용을 직접 수정해도 되나요?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관리자 권한: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감사팀은 프로젝트가 완료(Completion)되기 전이라면 언제든지 지적사항 제목, 내용, 담당자, 마감일을 직접 보완/수정할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