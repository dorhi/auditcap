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ALL ROLES INTEGRATED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글로벌 세아(SAE-A) 감사 지적사항(CAP) 관리 시스템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전 권한(Role) 통합 공식 사용자 매뉴얼 (Single Integrated Master)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법인담당자, 유관부서, 법인대표, 법인장, 본사감사실, 시스템관리자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TABLE OF CONTENTS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통합 사용자 매뉴얼 전체 목차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0713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📌 1부: 시스템 개요 및 권한 체계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3: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 개요 및 3대 핵심 운영 원칙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4: </a:t>
            </a:r>
            <a:r>
              <a:rPr sz="1100">
                <a:solidFill>
                  <a:srgbClr val="0F172A"/>
                </a:solidFill>
                <a:latin typeface="Malgun Gothic"/>
              </a:rPr>
              <a:t>역할 기반 권한 관리(RBAC) 매트릭스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5: </a:t>
            </a:r>
            <a:r>
              <a:rPr sz="1100">
                <a:solidFill>
                  <a:srgbClr val="0F172A"/>
                </a:solidFill>
                <a:latin typeface="Malgun Gothic"/>
              </a:rPr>
              <a:t>CAP 4단계 결재선 워크플로우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6: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종합 확정 및 완료(Completion) 2단계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0833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0833" y="1463040"/>
            <a:ext cx="2510713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📌 2부: 법인 실무자 매뉴얼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7: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담당자(MEMBER) &amp; 유관부서(DEPT_MEMBER) 개요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8: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 상태 코드 5종 기준 및 증빙 첨부 가이드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9: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2] 조치 작성, Rich Text 에디터 및 상신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10: </a:t>
            </a:r>
            <a:r>
              <a:rPr sz="1100">
                <a:solidFill>
                  <a:srgbClr val="0F172A"/>
                </a:solidFill>
                <a:latin typeface="Malgun Gothic"/>
              </a:rPr>
              <a:t>이력 타임라인 스냅샷 열람 및 반려 대처법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7" y="1463040"/>
            <a:ext cx="2510713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📌 3부: 법인 관리자 및 경영진 매뉴얼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11: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대표담당자(LEAD_REP) 심사 체크리스트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12: </a:t>
            </a:r>
            <a:r>
              <a:rPr sz="1100">
                <a:solidFill>
                  <a:srgbClr val="0F172A"/>
                </a:solidFill>
                <a:latin typeface="Malgun Gothic"/>
              </a:rPr>
              <a:t>대표담당자 승인(감사실 제출) 및 반려 절차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13: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법인장(CORP_HEAD) 역할 및 데이터 보안 격리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14: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8] 법인장 최종 확정(CONFIRM) 가이드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9461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49461" y="1463040"/>
            <a:ext cx="2510713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9461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📌 4부: 감사팀 및 관리자 매뉴얼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15: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감사담당자(AUDITOR) &amp; 책임자(AUDIT_LEADER) 역할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16: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1] 프로젝트 등록 및 완료 기반 CAP 승계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17: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3] CAP 신규 등록 및 카테고리/감사자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18: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2] 법인 조치 검증(CONFIRM/보완요청)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19: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8] 감사팀 최종 승인 및 완료(Completion)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20: </a:t>
            </a:r>
            <a:r>
              <a:rPr sz="1100">
                <a:solidFill>
                  <a:srgbClr val="0F172A"/>
                </a:solidFill>
                <a:latin typeface="Malgun Gothic"/>
              </a:rPr>
              <a:t>[메뉴 4] 전사 조치율 모니터링 &amp; 즉시 완료/오픈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21: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시스템관리자(ADMIN) 계정/메뉴/권한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슬라이드 22~24: </a:t>
            </a:r>
            <a:r>
              <a:rPr sz="1100">
                <a:solidFill>
                  <a:srgbClr val="0F172A"/>
                </a:solidFill>
                <a:latin typeface="Malgun Gothic"/>
              </a:rPr>
              <a:t>화면 매핑표, 전사 FAQ 및 헬프데스크 안내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1. OVERVIEW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도입 배경 및 3대 핵심 운영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🌐 실시간 글로벌 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본사-법인 원스톱: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감사실과 전 세계 해외/국내 피감 법인 간의 감사 지적사항 및 개선조치를 단일 웹 플랫폼에서 실시간 공유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수기 업무 탈피: </a:t>
            </a:r>
            <a:r>
              <a:rPr sz="1100">
                <a:solidFill>
                  <a:srgbClr val="0F172A"/>
                </a:solidFill>
                <a:latin typeface="Malgun Gothic"/>
              </a:rPr>
              <a:t>엑셀 취합 및 이메일 소통 방식을 클라우드 기반 실시간 조치 관리 체계로 전면 혁신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⏱️ 2트랙 마감일 체계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감사팀 예상 마감일: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감사실이 요구하는 조치 권고 기한을 명확히 제시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 자체 조치 마감일: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담당자가 현실적이고 책임 있는 목표 마감일을 수립하여 일정 준수율 제고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🔒 데이터 무결성 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완료(Completion) 락: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및 감사팀 승인 완료 시 데이터 수정 및 파일 업로드 원천 차단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차기 연계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 프로젝트의 미완료 건만 선별하여 차기 차수로 자동 복제 승계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1. RBAC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역할 기반 권한 관리(RBAC) 체계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4572000"/>
                <a:gridCol w="286481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 코드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 명칭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주관 업무 및 권한 범위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접근 화면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지적사항 조치계획 작성, 증빙 첨부, 대표담당자 상신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입력 (/action-plans)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DEPT_MEMBER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유관부서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타 부서 협조자로서 개선 협조 의견 추가 등록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입력 (/action-plans)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LEAD_REP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대표담당자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조치내용 1차 검토, 감사실 제출(CONFIRM) 또는 반려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입력, 조치율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CORP_HEAD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소속 법인 프로젝트 종합 검증 및 [법인장 최종 확정]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최종 검증 및 확정 (/head-final-approval)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AUDITOR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담당자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프로젝트/CAP 등록, 법인 조치 검증(CONFIRM) 및 보완요청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프로젝트등록, CAP관리, 조치계획,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AUDIT_LEADER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책임자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총괄, 최종 승인 및 완료(Completion) 락, Open 제어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화면 접근 및 완료/오픈 총괄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사용자 계정 승인, 화면/메뉴 관리, 권한 매트릭스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관리 전 화면 (/users, /menus, /permissions)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1. WORKFLOW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개별 지적사항(CAP) 조치 및 검증 4단계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0713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1단계: 법인담당자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조치내역 작성, 상태코드 지정, 증빙 업로드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[임시저장] / [확인 요청 (CONFIRM)]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전이: </a:t>
            </a:r>
            <a:r>
              <a:rPr sz="1100">
                <a:solidFill>
                  <a:srgbClr val="0F172A"/>
                </a:solidFill>
                <a:latin typeface="Malgun Gothic"/>
              </a:rPr>
              <a:t>DRAFT ➔ PENDING_LEAD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0833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0833" y="1463040"/>
            <a:ext cx="2510713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2단계: 법인대표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3713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1차 심사 후 감사실 상신 또는 재수정 요청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[확인 완료 (감사팀 제출)] / [재수정 요청 (반려)]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전이: </a:t>
            </a:r>
            <a:r>
              <a:rPr sz="1100">
                <a:solidFill>
                  <a:srgbClr val="0F172A"/>
                </a:solidFill>
                <a:latin typeface="Malgun Gothic"/>
              </a:rPr>
              <a:t>PENDING_AUDIT 또는 REJECTED_LEAD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0147" y="1463040"/>
            <a:ext cx="2510713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3단계: 감사담당자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7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액션: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증빙 대조 및 현장 심사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[감사 검증완료 (CONFIRM)] / [재작성 요청 (보완)]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전이: </a:t>
            </a:r>
            <a:r>
              <a:rPr sz="1100">
                <a:solidFill>
                  <a:srgbClr val="0F172A"/>
                </a:solidFill>
                <a:latin typeface="Malgun Gothic"/>
              </a:rPr>
              <a:t>AUDIT_CONFIRMED 또는 REJECTED_AUDIT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9461" y="1463040"/>
            <a:ext cx="2510713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49461" y="1463040"/>
            <a:ext cx="2510713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9461" y="1463040"/>
            <a:ext cx="2510713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4단계: 조치종료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057400"/>
            <a:ext cx="2144953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상태: </a:t>
            </a:r>
            <a:r>
              <a:rPr sz="1100">
                <a:solidFill>
                  <a:srgbClr val="0F172A"/>
                </a:solidFill>
                <a:latin typeface="Malgun Gothic"/>
              </a:rPr>
              <a:t>AUDIT_CONFIRMED (검증종료)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잠금: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지적사항 공식 종결 및 수정 락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다음: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대상 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1. COMPLETION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프로젝트 최종 확정(CONFIRM) 및 완료(Completion)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6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🏛️ [1단계] 법인장 최종 확정 (CONFIRM)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화면: </a:t>
            </a:r>
            <a:r>
              <a:rPr sz="1100">
                <a:solidFill>
                  <a:srgbClr val="0F172A"/>
                </a:solidFill>
                <a:latin typeface="Malgun Gothic"/>
              </a:rPr>
              <a:t>[프로젝트 최종 검증 및 확정] 전용 화면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필수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 내 모든 지적사항 100% 감사실 검증 완료(AUDIT_CONFIRMED)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소속 법인장 (CORP_HEAD)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의미: </a:t>
            </a:r>
            <a:r>
              <a:rPr sz="1100">
                <a:solidFill>
                  <a:srgbClr val="0F172A"/>
                </a:solidFill>
                <a:latin typeface="Malgun Gothic"/>
              </a:rPr>
              <a:t>피감 법인의 모든 조치가 이상 없이 완료되었음을 법인 최고책임자가 확정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🔒 [2단계] 감사팀 최종 승인 및 완료 (Completion)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주관자: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본사 감사책임자 (AUDIT_LEADER)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선행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법인장의 1단계 최종 확정 완료 건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실행 버튼: </a:t>
            </a:r>
            <a:r>
              <a:rPr sz="1100">
                <a:solidFill>
                  <a:srgbClr val="0F172A"/>
                </a:solidFill>
                <a:latin typeface="Malgun Gothic"/>
              </a:rPr>
              <a:t>[감사팀 최종 승인 및 완료 (Completion 실행)]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시스템 효과: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상태로 전환되며 전 데이터 무결성 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🔄 차기 프로젝트 개설 및 자동 승계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모태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완료(Completion)된 프로젝트를 기반으로 신규 차기 프로젝트 개설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지적사항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개선완료 건 제외, 미완료 건(개선중/불가/지속)만 자동 복제 승계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이터레이션: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승계된 CAP은 작성중(DRAFT)으로 초기화되어 2차 개선 진행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2. MEMBER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 담당자 및 유관부서의 역할과 책임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7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👤 법인 담당자 (MEMBER)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지적사항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본인 법인 및 배정된 지적사항(CAP) 내용과 감사팀 요구 마감일 확인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조치계획 수립: </a:t>
            </a:r>
            <a:r>
              <a:rPr sz="1100">
                <a:solidFill>
                  <a:srgbClr val="0F172A"/>
                </a:solidFill>
                <a:latin typeface="Malgun Gothic"/>
              </a:rPr>
              <a:t>구체적인 원인 분석 및 재발방지 개선조치계획 상세 작성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조치상태 설정: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개선중(예상시기 입력) / 개선완료(완료일자 입력) 등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증빙 첨부: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 조치를 입증할 사진, 문서, 공문 등 파일 업로드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5. 확인 상신: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대표담당자(LEAD_REP)에게 검토 및 승인 요청(CONFIRM)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🤝 유관부서 담당자 (DEPT_MEMBER)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타 부서 협조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본인 부서가 유관부서 협조자로 지정된 지적사항 조회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협조 의견 작성: </a:t>
            </a:r>
            <a:r>
              <a:rPr sz="1100">
                <a:solidFill>
                  <a:srgbClr val="0F172A"/>
                </a:solidFill>
                <a:latin typeface="Malgun Gothic"/>
              </a:rPr>
              <a:t>유관부서 협조 내용 입력 박스에 개선 방안 및 지원 의견 등록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실시간 누적 반영: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의견은 기존 조치내역 하단에 박스 형태로 누적 표시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타임라인 기록: </a:t>
            </a:r>
            <a:r>
              <a:rPr sz="1100">
                <a:solidFill>
                  <a:srgbClr val="0F172A"/>
                </a:solidFill>
                <a:latin typeface="Malgun Gothic"/>
              </a:rPr>
              <a:t>누가 언제 협조 의견을 작성했는지 이력에 영구 기록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⚠️ 무결성 보호 규정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완료(Completion) 프로젝트: </a:t>
            </a:r>
            <a:r>
              <a:rPr sz="1100">
                <a:solidFill>
                  <a:srgbClr val="0F172A"/>
                </a:solidFill>
                <a:latin typeface="Malgun Gothic"/>
              </a:rPr>
              <a:t>최종 승인 완료(Completion) 상태인 프로젝트는 수정/업로드 일체 불가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검증 진행 중: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 검증 대기(PENDING_AUDIT) 건은 임의 수정 불가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파일 제한: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건당 50MB, 보안상 위험 파일(.exe 등) 업로드 차단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2. STATUS CODE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조치 상태 코드 선택 기준 및 필수 요건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8 /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926080"/>
                <a:gridCol w="2286000"/>
                <a:gridCol w="231617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 코드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 표기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선택 기준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필수 입력 항목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현재 개선 대책을 수립하고 실행 중인 경우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 예상 시기 (목표일자)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설비 교체 발주 진행 중, 익월 납품 예정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개선완료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원인 분석 및 개선 대책 실행이 100% 완료된 경우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개선완료일자 + 증빙자료 첨부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규정 개정 및 전 직원 교육 완료 (결과보고서 첨부)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ACTION_IMPOSSIBLE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현지 법규/제도적 한계 등으로 개선이 불가능한 경우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구체적인 사유 기재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현지 토지사용권 규제로 인한 인허가 불가 사유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CONTINUOUS_MANAGEMENT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지속관리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일회성 조치가 아닌 정기적 모니터링이 필요한 경우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향후 관리 방안 및 점검 주기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매월 원자재 재고 실사 및 오차율 지속 점검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UNWRITTEN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미작성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초기 감사 지적사항 등록 상태 (작성 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조치내용 작성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조치계획 미수립 상태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2. UI GUIDE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2] 조치계획 &amp; 필수 정보 입력 화면 실무 조작법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9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조회 및 지적사항 선택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법인/프로젝트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조회조건에서 본인 소속 법인과 감사 프로젝트를 선택하고 [조회]를 누릅니다.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그리드 리스트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테이블에서 본인에게 배정된 지적사항을 클릭하여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스텝 바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4단계 스텝 바를 통해 현재 결재 진행 상태를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에디터 및 증빙 파일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Rich Text 에디터: </a:t>
            </a:r>
            <a:r>
              <a:rPr sz="1100">
                <a:solidFill>
                  <a:srgbClr val="0F172A"/>
                </a:solidFill>
                <a:latin typeface="Malgun Gothic"/>
              </a:rPr>
              <a:t>글자 굵기, 색상, 글머리 기호, 표(Table) 삽입 기능을 활용하여 가독성 있게 작성합니다.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다중 파일 업로드: </a:t>
            </a:r>
            <a:r>
              <a:rPr sz="1100">
                <a:solidFill>
                  <a:srgbClr val="0F172A"/>
                </a:solidFill>
                <a:latin typeface="Malgun Gothic"/>
              </a:rPr>
              <a:t>증빙 첨부 영역에서 [파일 선택]으로 여러 파일을 동시 선택(Ctrl+클릭) 후 [업로드]합니다.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파일 다운로드/삭제: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파일명을 클릭해 다운로드하고, 잘못 올린 파일은 즉시 삭제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임시저장 및 상신(CONFIRM)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[임시저장]: </a:t>
            </a:r>
            <a:r>
              <a:rPr sz="1100">
                <a:solidFill>
                  <a:srgbClr val="0F172A"/>
                </a:solidFill>
                <a:latin typeface="Malgun Gothic"/>
              </a:rPr>
              <a:t>작성 중인 내용을 중간 저장합니다. 결재 단계는 넘어가지 않으며 계속 수정 가능합니다.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[확인 요청 (CONFIRM)]: </a:t>
            </a:r>
            <a:r>
              <a:rPr sz="1100">
                <a:solidFill>
                  <a:srgbClr val="0F172A"/>
                </a:solidFill>
                <a:latin typeface="Malgun Gothic"/>
              </a:rPr>
              <a:t>작성이 완전히 완료되면 클릭하여 법인 대표담당자에게 상신합니다.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유관부서 협조: </a:t>
            </a:r>
            <a:r>
              <a:rPr sz="1100">
                <a:solidFill>
                  <a:srgbClr val="0F172A"/>
                </a:solidFill>
                <a:latin typeface="Malgun Gothic"/>
              </a:rPr>
              <a:t>유관부서 담당자는 하단 협조 박스에 의견을 작성하고 [협조 내용 등록]을 클릭합니다.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2. HISTORY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이력 타임라인 스냅샷 열람 및 반려/보완 대처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10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📜 누적 이력 타임라인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처리 이력 추적: </a:t>
            </a:r>
            <a:r>
              <a:rPr sz="1100">
                <a:solidFill>
                  <a:srgbClr val="0F172A"/>
                </a:solidFill>
                <a:latin typeface="Malgun Gothic"/>
              </a:rPr>
              <a:t>언제, 누가, 어떤 조치를 등록하고 결재했는지 시간순으로 모두 누적됩니다.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당시 조치내용 스냅샷: </a:t>
            </a:r>
            <a:r>
              <a:rPr sz="1100">
                <a:solidFill>
                  <a:srgbClr val="0F172A"/>
                </a:solidFill>
                <a:latin typeface="Malgun Gothic"/>
              </a:rPr>
              <a:t>반려 또는 승인 당시 작성되었던 조치 원본 텍스트를 클릭하여 그대로 대조 열람할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↩️ 대표담당자 재수정 요청 (REJECTED_LEAD)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상태 뱃지가 주황색 '대표담당자 재수정 요청'으로 변경됩니다.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반려 사유 검토: </a:t>
            </a:r>
            <a:r>
              <a:rPr sz="1100">
                <a:solidFill>
                  <a:srgbClr val="0F172A"/>
                </a:solidFill>
                <a:latin typeface="Malgun Gothic"/>
              </a:rPr>
              <a:t>타임라인 상단 또는 알림에 표시된 법인대표의 반려 코멘트를 정밀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보완 및 재상신: </a:t>
            </a:r>
            <a:r>
              <a:rPr sz="1100">
                <a:solidFill>
                  <a:srgbClr val="0F172A"/>
                </a:solidFill>
                <a:latin typeface="Malgun Gothic"/>
              </a:rPr>
              <a:t>지적된 미흡 사항을 보완하고 증빙을 보충한 뒤 다시 [확인 요청 (CONFIRM)]을 클릭합니다.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⚠️ 감사실 재작성 요청 (REJECTED_AUDIT)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상태 뱃지가 붉은색 '감사실 재작성 요청 (보완)'으로 변경됩니다.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감사관 의견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감사팀이 요구한 보완 요구사항 및 지적 근거를 면밀히 분석합니다.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근본 개선 및 재제출: </a:t>
            </a:r>
            <a:r>
              <a:rPr sz="1100">
                <a:solidFill>
                  <a:srgbClr val="0F172A"/>
                </a:solidFill>
                <a:latin typeface="Malgun Gothic"/>
              </a:rPr>
              <a:t>단순 형식 수정이 아닌 실질적 개선 대책을 기술한 후 다시 상신합니다.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3. LEAD REP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 대표담당자 조치 검토 5대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11 /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2743200"/>
                <a:gridCol w="231617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검토 항목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세부 심사 기준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미흡 시 조치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적합 시 조치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 원인 분석의 적정성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발생 원인이 근본적으로 분석되었는지 (단순 실수 등으로 치부하지 않았는지)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반려 사유에 '근본 원인 재분석 요구' 기재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 조치 상태 코드 일치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개선중/개선완료 상태가 실제 이행 상황 및 일자와 일치하는지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 상태 코드 및 날짜 수정 요구 반려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 증빙자료 신뢰성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개선완료 건에 대해 입증 가능한 객관적 문서/사진이 첨부되었는지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증빙 추가 첨부 요구 반려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 재발방지 대책 실효성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동일한 지적사항이 재발하지 않도록 제도/프로세스 개선이 포함되었는지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재발방지 대책 보완 요구 반려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 마감기한의 타당성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 예상 마감일보다 늦지 않게 목표일이 설정되었는지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마감일정 단축 조정 요구 반려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승인 진행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3. LEAD REP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2] 법인 대표담당자 승인 및 반려 상세 조작법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12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대표담당자 확인 대기 건 조회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이동: </a:t>
            </a:r>
            <a:r>
              <a:rPr sz="1100">
                <a:solidFill>
                  <a:srgbClr val="0F172A"/>
                </a:solidFill>
                <a:latin typeface="Malgun Gothic"/>
              </a:rPr>
              <a:t>좌측 [감사 조치계획 &amp; 필수 정보 입력] 메뉴로 이동합니다.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뱃지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그리드에서 노란색 '대표담당자 확인대기 (PENDING_LEAD)' 건을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종합 내역 검토: </a:t>
            </a:r>
            <a:r>
              <a:rPr sz="1100">
                <a:solidFill>
                  <a:srgbClr val="0F172A"/>
                </a:solidFill>
                <a:latin typeface="Malgun Gothic"/>
              </a:rPr>
              <a:t>우측 상세 패널에서 담당자명, 부서, 조치내역, 첨부된 증빙파일을 면밀히 열람합니다.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감사실 제출 (CONFIRM) 승인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 클릭: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결재 바에서 녹색 [확인 완료 (감사팀 제출)]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의견 입력창: </a:t>
            </a:r>
            <a:r>
              <a:rPr sz="1100">
                <a:solidFill>
                  <a:srgbClr val="0F172A"/>
                </a:solidFill>
                <a:latin typeface="Malgun Gothic"/>
              </a:rPr>
              <a:t>대표담당자 검토 의견을 입력할 수 있는 팝업창에 추가 피드백을 기재합니다.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감사실 상신: </a:t>
            </a:r>
            <a:r>
              <a:rPr sz="1100">
                <a:solidFill>
                  <a:srgbClr val="0F172A"/>
                </a:solidFill>
                <a:latin typeface="Malgun Gothic"/>
              </a:rPr>
              <a:t>승인 즉시 본사 감사실의 검증 목록으로 이관되며 타임라인에 기록됩니다.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재수정 요청 (반려: REJECT)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 클릭: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결재 바에서 주황색 [재수정 요청 (반려)]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사유 필수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담당자가 무엇을 어떻게 보완해야 하는지 구체적인 사유를 팝업창에 입력합니다.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담당자 피드백: </a:t>
            </a:r>
            <a:r>
              <a:rPr sz="1100">
                <a:solidFill>
                  <a:srgbClr val="0F172A"/>
                </a:solidFill>
                <a:latin typeface="Malgun Gothic"/>
              </a:rPr>
              <a:t>확인 즉시 담당자에게 반려 처리되어 담당자가 내용을 보완할 수 있게 열립니다.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3. CORP HEAD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법인장(CORP_HEAD)의 역할 및 데이터 보안 정책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13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본인 법인 감사 격리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철저한 데이터 격리: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로그인 시 타 법인 정보는 완전히 차단되며, 본인 법인의 감사 데이터만 표시됩니다.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사용자 명칭 표준화: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 전체에서 담당자 사번 대신 한글 이름과 공식 부서명으로 표시되어 직관적 파악이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프로젝트 최종 확정 (CONFIRM)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1단계 최종 승인권한: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내 모든 지적사항(CAP)이 조치 검증 완료되었을 때 법인장 최종 확정(CONFIRM)을 수행합니다.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경영진 책임 승인: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내 감사 지적사항의 이행 결과를 최종 확정하고 본사 감사실의 최종 종결을 요청합니다.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프로젝트 Open (완료해제) 권한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완료해제 실행권한: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권한으로 이미 완료(Completion)된 소속 법인의 프로젝트를 필요 시 다시 오픈(Open)할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긴급 수정 지원: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감사실 승인 전후 긴급 추가 조치가 필요한 경우 활용됩니다.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3. CORP HEAD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8] 프로젝트 최종 검증 및 확정 화면 실무 사용법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14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1단계: 소속 프로젝트 선택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전용 메뉴 이동: </a:t>
            </a:r>
            <a:r>
              <a:rPr sz="1100">
                <a:solidFill>
                  <a:srgbClr val="0F172A"/>
                </a:solidFill>
                <a:latin typeface="Malgun Gothic"/>
              </a:rPr>
              <a:t>좌측 메뉴에서 [프로젝트 최종 검증 및 확정]을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 전용 고정: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소속 법인 필터가 본인 법인으로 자동 고정되어 안전하게 조회됩니다.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프로젝트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목록에서 검증할 감사 프로젝트를 클릭하여 종합 리포트를 호출합니다.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2단계: 지적사항 조치 종합 검토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100% 완료 여부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상단 '지적사항 검증: N / M건'에서 전체 CAP이 100% 완료되었는지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상세 조치내용 열람: </a:t>
            </a:r>
            <a:r>
              <a:rPr sz="1100">
                <a:solidFill>
                  <a:srgbClr val="0F172A"/>
                </a:solidFill>
                <a:latin typeface="Malgun Gothic"/>
              </a:rPr>
              <a:t>하단 그리드에서 각 CAP별 분류, 제목, 담당자 이름, 조치 상태, 최종 조치 결과, 증빙을 종합 검토합니다.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부서별 조치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모든 유관부서와 담당자의 개선 결과가 충실한지 최종 판단합니다.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3단계: [최종 확정 (CONFIRM)] 실행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버튼 활성화 조건: </a:t>
            </a:r>
            <a:r>
              <a:rPr sz="1100">
                <a:solidFill>
                  <a:srgbClr val="0F172A"/>
                </a:solidFill>
                <a:latin typeface="Malgun Gothic"/>
              </a:rPr>
              <a:t>모든 CAP이 감사 검증 완료(AUDIT_CONFIRMED) 상태일 때만 확정 버튼이 활성화됩니다.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확정 코멘트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확정 코멘트를 입력하고 [최종 확정 (CONFIRM 완료)]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감사팀 이관: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확정이 완료되면 감사팀의 2단계 최종 완료(Completion) 승인으로 넘어갑니다.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4. AUDIT TEAM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본사 감사실(담당자 및 책임자)의 역할과 권한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15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🔍 감사 담당자 (AUDITOR)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프로젝트 신규 등록: </a:t>
            </a:r>
            <a:r>
              <a:rPr sz="1100">
                <a:solidFill>
                  <a:srgbClr val="0F172A"/>
                </a:solidFill>
                <a:latin typeface="Malgun Gothic"/>
              </a:rPr>
              <a:t>연도_법인명 규칙 기반 프로젝트 개설 및 마감일(1차) 단일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CAP 지적사항 등록/수정: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카테고리 분류, 다중 감사자 지정, 법인 조치담당자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법인 조치내용 심사 검증: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법인이 제출한 조치내역과 증빙을 검증하여 [감사 검증완료] 또는 [보완 요청]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프로젝트 조치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건에 대해 2단계 확인 수행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⚖️ 감사 책임자 (AUDIT_LEADER)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감사 프로젝트 총괄: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전사 법인별 감사 진행 현황 및 조치율 모니터링 총괄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최종 승인 및 완료(Completion):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최종 확정 프로젝트의 최종 승인 및 데이터 완료(Completion) 락 실행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즉시 최종 확정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필요 시 담당자 확인과 동시에 즉시 최종 확정 및 완료(Completion) 실행 가능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4. 완료 해제(Open) 제어: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완료된 프로젝트의 안전한 재오픈(Open) 승인 및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🔄 차기 연계 승계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1. 모태 프로젝트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 상태인 프로젝트를 기반으로 차기 차수 개설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2. 개선완료 건 자동 제외: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완료된 CAP은 자동 종결 처리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3. 미완료 건 자동 승계: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개선중/개선불가/지속관리 건은 신규 프로젝트로 자동 복제 승계하여 지속 관리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4. AUDIT TEAM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1] 프로젝트 신규 등록 및 완료 프로젝트 기반 승계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16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신규 감사 프로젝트 등록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명명 규칙: </a:t>
            </a:r>
            <a:r>
              <a:rPr sz="1100">
                <a:solidFill>
                  <a:srgbClr val="0F172A"/>
                </a:solidFill>
                <a:latin typeface="Malgun Gothic"/>
              </a:rPr>
              <a:t>'연도_법인명' 필수 준수 (예: 2026_법인A).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대상 법인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피감 법인 코드 지정 (법인 격리 기준).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마감일 단일화: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1차 마감일 1개만 명확히 지정하여 혼선 방지.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담당자 다중 배정: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내 접근 허용 담당자 및 타 부서 유관 협조자를 체크박스로 다중 지정.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완료(Completion) 기반 차기 프로젝트 개설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모태 프로젝트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완료(Completion) 처리된 이전 프로젝트를 선택합니다.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승계 분석 결과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시스템이 총 CAP 건수, 제외 대상(개선완료), 승계 대상(미완료)을 자동 산출합니다.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차수 자동 증가: </a:t>
            </a:r>
            <a:r>
              <a:rPr sz="1100">
                <a:solidFill>
                  <a:srgbClr val="0F172A"/>
                </a:solidFill>
                <a:latin typeface="Malgun Gothic"/>
              </a:rPr>
              <a:t>1차 ➔ 2차 명칭 자동 추천 (예: 2026_법인A_2차).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차기 마감일 설정: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새로운 차수의 마감기한을 설정하고 [생성 및 승계]를 실행합니다.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승계된 CAP의 상태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작성중(DRAFT) 초기화: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승계된 CAP은 DRAFT 상태로 초기화되어 피감 법인이 2차 답변을 작성할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이전 원천 이력 연계: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원천 CAP ID 및 이전 차수의 조치 이력이 연결되어 히스토리가 보존됩니다.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4. AUDIT TEAM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3] 감사 지적사항(CAP) 신규 등록 및 수정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17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카테고리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분류 체계: </a:t>
            </a:r>
            <a:r>
              <a:rPr sz="1100">
                <a:solidFill>
                  <a:srgbClr val="0F172A"/>
                </a:solidFill>
                <a:latin typeface="Malgun Gothic"/>
              </a:rPr>
              <a:t>재무, IT보안, 컴플라이언스, 환경/안전, 인사노무 등 대분류 관리.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동적 관리: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[카테고리 관리] 모달을 통해 신규 카테고리를 추가/수정/삭제 가능.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지적사항 등록 및 정보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제목 및 내용: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 발견사항(Finding)의 사실관계 및 지적 근거 상세 기재.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 감사자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복수의 감사자를 다중 지정하여 공동 감사 수행 지원.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피감법인 담당자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조치를 담당할 법인 직원의 사번/이름/부서 매핑.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감사팀 예상 마감일: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감사팀이 요구하는 조치 권고 기한 설정.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지적사항 수정 및 삭제 규정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상시 수정 권한: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감사팀은 필요 시 법인 담당자 및 유관부서를 언제든지 변경/추가 가능.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 프로젝트 제한: </a:t>
            </a:r>
            <a:r>
              <a:rPr sz="1100">
                <a:solidFill>
                  <a:srgbClr val="0F172A"/>
                </a:solidFill>
                <a:latin typeface="Malgun Gothic"/>
              </a:rPr>
              <a:t>단, 완료(Completion) 상태인 프로젝트의 지적사항은 삭제 및 수정이 원천 차단됩니다.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4. AUDIT TEAM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2] 법인 조치내용 검증 심사 및 피드백 절차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18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📋 1. 감사실 검증 대기 건 심사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필터: </a:t>
            </a:r>
            <a:r>
              <a:rPr sz="1100">
                <a:solidFill>
                  <a:srgbClr val="0F172A"/>
                </a:solidFill>
                <a:latin typeface="Malgun Gothic"/>
              </a:rPr>
              <a:t>그리드에서 보라색 '감사실 검증대기 (PENDING_AUDIT)' 건을 조회합니다.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종합 심사: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 담당자의 원인 분석, 조치 결과, 증빙자료, 유관부서 협조 내용을 정밀 검토합니다.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첨부 증빙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등록된 증빙 파일을 다운로드하여 위변조 여부 및 실효성을 점검합니다.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✅ 2. 감사 검증완료 (CONFIRM)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심사 통과: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조치가 충분하고 입증된 경우 [감사 검증완료 (CONFIRM)]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코멘트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 검증 의견을 기재하고 완료 처리합니다.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효과: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지적사항은 공식 '조치종료(AUDIT_CONFIRMED)' 상태로 전환되며 법인장 최종 확정 대상 건으로 승격됩니다.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↩️ 3. 감사실 재작성 요청 (보완: REJECT)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미흡 판정: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조치가 미흡하거나 증빙이 부족한 경우 [재작성 요청 (보완)]을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보완 사유 필수: </a:t>
            </a:r>
            <a:r>
              <a:rPr sz="1100">
                <a:solidFill>
                  <a:srgbClr val="0F172A"/>
                </a:solidFill>
                <a:latin typeface="Malgun Gothic"/>
              </a:rPr>
              <a:t>구체적인 반려 이유와 보완 방향을 코멘트에 반드시 기재합니다.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이터레이션: </a:t>
            </a:r>
            <a:r>
              <a:rPr sz="1100">
                <a:solidFill>
                  <a:srgbClr val="0F172A"/>
                </a:solidFill>
                <a:latin typeface="Malgun Gothic"/>
              </a:rPr>
              <a:t>담당자에게 '감사실 재작성 요청 (REJECTED_AUDIT)' 상태로 이관되어 타임라인에 누적됩니다.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4. AUDIT TEAM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8] 프로젝트 최종 승인 및 완료(Completion)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19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법인장 확정 완료 건 확인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이동: </a:t>
            </a:r>
            <a:r>
              <a:rPr sz="1100">
                <a:solidFill>
                  <a:srgbClr val="0F172A"/>
                </a:solidFill>
                <a:latin typeface="Malgun Gothic"/>
              </a:rPr>
              <a:t>[프로젝트 최종 검증 및 확정] 전용 화면으로 이동합니다.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필터 조회: </a:t>
            </a:r>
            <a:r>
              <a:rPr sz="1100">
                <a:solidFill>
                  <a:srgbClr val="0F172A"/>
                </a:solidFill>
                <a:latin typeface="Malgun Gothic"/>
              </a:rPr>
              <a:t>결재 상태 필터에서 '확정 완료 건'을 선택하거나 전체 프로젝트를 조회합니다.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선행 조건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1단계 확정(HEAD_CONFIRMED)이 완료되었는지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감사팀 최종 승인 및 완료(Completion) 실행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패널 상태: </a:t>
            </a:r>
            <a:r>
              <a:rPr sz="1100">
                <a:solidFill>
                  <a:srgbClr val="0F172A"/>
                </a:solidFill>
                <a:latin typeface="Malgun Gothic"/>
              </a:rPr>
              <a:t>우측 2단계 감사팀 패널에 녹색 '완료 가능' 뱃지가 활성화됩니다.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[Completion 실행]: </a:t>
            </a:r>
            <a:r>
              <a:rPr sz="1100">
                <a:solidFill>
                  <a:srgbClr val="0F172A"/>
                </a:solidFill>
                <a:latin typeface="Malgun Gothic"/>
              </a:rPr>
              <a:t>[감사팀 최종 승인 및 완료 (Completion 실행)] 버튼을 클릭합니다.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최종 승인 의견: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 종합 감사 의견을 입력하고 확인을 누릅니다.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상태 전환: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상태로 안전하게 락(Lock) 처리됩니다.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내용 미흡 시 보완 요청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보완 요청 기능: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확정 후라도 내용 재검토가 필요하면 [보완 요청]을 클릭할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사유 입력: </a:t>
            </a:r>
            <a:r>
              <a:rPr sz="1100">
                <a:solidFill>
                  <a:srgbClr val="0F172A"/>
                </a:solidFill>
                <a:latin typeface="Malgun Gothic"/>
              </a:rPr>
              <a:t>보완 사유를 입력하면 프로젝트가 다시 오픈(OPEN) 상태로 전환되어 재조치가 가능해집니다.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4. AUDIT TEAM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[메뉴 4] 전사 조치율 보고 및 감사책임자 즉시 완료/오픈 제어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20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📊 전사 모니터링 및 엑셀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종합 현황판: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전체 법인의 CAP 진행률, 감사 검증률, 완료(Completion) 프로젝트 현황 실시간 집계.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다차원 필터: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법인별, 기간별, 프로젝트 상태(OPEN/FREEZE)별 정밀 검색 지원.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엑셀 보고서: </a:t>
            </a:r>
            <a:r>
              <a:rPr sz="1100">
                <a:solidFill>
                  <a:srgbClr val="0F172A"/>
                </a:solidFill>
                <a:latin typeface="Malgun Gothic"/>
              </a:rPr>
              <a:t>전체 통계 및 지적사항 데이터를 원클릭 엑셀(.xlsx)로 다운로드.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⚡ 감사책임자 즉시 최종 완료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담당자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테이블 액션 열에서 [담당자 내용 확인] 모달을 통해 조치내용 즉시 점검.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원스톱 완료: </a:t>
            </a:r>
            <a:r>
              <a:rPr sz="1100">
                <a:solidFill>
                  <a:srgbClr val="0F172A"/>
                </a:solidFill>
                <a:latin typeface="Malgun Gothic"/>
              </a:rPr>
              <a:t>확인 모달 내 [확인 및 즉시 최종 완료 (Completion)] 버튼을 통해 별도 화면 이동 없이 즉시 최종 승인 처리 지원.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🔓 프로젝트 완료 해제 (Open)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완료해제(Open) 실행: </a:t>
            </a:r>
            <a:r>
              <a:rPr sz="1100">
                <a:solidFill>
                  <a:srgbClr val="0F172A"/>
                </a:solidFill>
                <a:latin typeface="Malgun Gothic"/>
              </a:rPr>
              <a:t>이미 완료된 프로젝트라도 추가 증빙 반영 등 불가피한 사유 발생 시 [완료해제(Open)] 버튼으로 재오픈 가능.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작업 후 재완료: </a:t>
            </a:r>
            <a:r>
              <a:rPr sz="1100">
                <a:solidFill>
                  <a:srgbClr val="0F172A"/>
                </a:solidFill>
                <a:latin typeface="Malgun Gothic"/>
              </a:rPr>
              <a:t>보완 작업이 완료되면 다시 최종 승인 및 완료(Completion) 실행.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5. SYSTEM ADMIN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관리자(SYSTEM_ADMIN) 3대 핵심 관리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21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👤 사용자 계정 관리 (/users)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신규 계정 승인: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회원가입 요청 건의 가입 승인 및 반려 처리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역할(Role) 배정: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MEMBER, LEAD_REP, CORP_HEAD, AUDITOR, AUDIT_LEADER, ADMIN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법인/부서 매핑: </a:t>
            </a:r>
            <a:r>
              <a:rPr sz="1100">
                <a:solidFill>
                  <a:srgbClr val="0F172A"/>
                </a:solidFill>
                <a:latin typeface="Malgun Gothic"/>
              </a:rPr>
              <a:t>사용자의 소속 법인 코드 및 부서명 입력/수정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계정 잠금/활성화: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퇴사자 또는 휴직자 계정 비활성화 및 비밀번호 재설정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🖥️ 화면 / 메뉴 관리 (/menus)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동적 메뉴 관리: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사이드바 메뉴의 등록, 수정, 삭제를 UI에서 동적으로 제어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그룹 및 순서: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 업무 관리 / 시스템 관리 그룹화 및 노출 순서(sort_order) 조정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화면 형태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내부 라우팅(INTERNAL) 및 외부 링크(EXTERNAL) 지원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활성화 토글: </a:t>
            </a:r>
            <a:r>
              <a:rPr sz="1100">
                <a:solidFill>
                  <a:srgbClr val="0F172A"/>
                </a:solidFill>
                <a:latin typeface="Malgun Gothic"/>
              </a:rPr>
              <a:t>메뉴별 즉시 활성화/비활성화 스위치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🔐 역할별 권한 매트릭스 (/permissions)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2차원 매트릭스 그리드: </a:t>
            </a:r>
            <a:r>
              <a:rPr sz="1100">
                <a:solidFill>
                  <a:srgbClr val="0F172A"/>
                </a:solidFill>
                <a:latin typeface="Malgun Gothic"/>
              </a:rPr>
              <a:t>세로축(화면 메뉴) x 가로축(사용자 역할) 권한 매트릭스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체크박스 권한 제어: </a:t>
            </a:r>
            <a:r>
              <a:rPr sz="1100">
                <a:solidFill>
                  <a:srgbClr val="0F172A"/>
                </a:solidFill>
                <a:latin typeface="Malgun Gothic"/>
              </a:rPr>
              <a:t>체크박스 클릭 한 번으로 특정 역할의 화면 접근 권한 즉시 부여/회수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실시간 반영: </a:t>
            </a:r>
            <a:r>
              <a:rPr sz="1100">
                <a:solidFill>
                  <a:srgbClr val="0F172A"/>
                </a:solidFill>
                <a:latin typeface="Malgun Gothic"/>
              </a:rPr>
              <a:t>권한 변경 시 재시작 없이 사용자 화면에 즉시 적용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6. SUMMARY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전체 8대 메뉴별 기능 및 담당자 매핑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22 /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478505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메뉴 번호 / 명칭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URL 경로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사용자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기능 요약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 프로젝트 신규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/projects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신규 프로젝트 개설, 완료 프로젝트 기반 차기 프로젝트 개설 및 CAP 승계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2. 조치계획 &amp; 필수정보 입력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/action-plans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사용자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조치작성(Rich Text), 증빙 첨부, 유관부서 협조의견, 상신/반려/검증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3. 감사 지적사항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/findings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CAP 신규 등록, 카테고리 관리, 다중 감사자 배정, 감사팀 예상 마감일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4. 법인별 조치율 보고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/reports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사용자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전사/법인 통계 KPI, 엑셀 다운로드, 감사책임자 즉시 완료 및 Open 제어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8. 프로젝트 최종 검증 및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/head-final-approval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법인장, 감사팀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 격리 조회, 법인장 1단계 확정, 감사팀 2단계 최종 승인 및 완료(Completion)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5. 사용자 계정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/users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시스템관리자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회원가입 승인, 역할(Role) 배정, 소속 법인/부서 매핑, 비밀번호 초기화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6. 화면 / 메뉴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/menus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시스템관리자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화면 메뉴 추가/수정/삭제, 노출 순서 변경, 내부/외부 링크 연동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7. 역할별 화면 접근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/permissions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시스템관리자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역할별 메뉴 접근 제어 매트릭스 설정 (체크박스 제어)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6. FAQ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전사 실무 공통 FAQ 및 문제 해결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23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화면 버튼이 안 눌리거나 회색으로 보입니다.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체크 1: </a:t>
            </a:r>
            <a:r>
              <a:rPr sz="1100">
                <a:solidFill>
                  <a:srgbClr val="0F172A"/>
                </a:solidFill>
                <a:latin typeface="Malgun Gothic"/>
              </a:rPr>
              <a:t>프로젝트가 '완료(Completion)' 상태인지 확인하세요 (완료 시 수정 차단).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체크 2: </a:t>
            </a:r>
            <a:r>
              <a:rPr sz="1100">
                <a:solidFill>
                  <a:srgbClr val="0F172A"/>
                </a:solidFill>
                <a:latin typeface="Malgun Gothic"/>
              </a:rPr>
              <a:t>법인장 확정 버튼은 모든 CAP이 '감사 검증완료' 상태여야 활성화됩니다.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체크 3: </a:t>
            </a:r>
            <a:r>
              <a:rPr sz="1100">
                <a:solidFill>
                  <a:srgbClr val="0F172A"/>
                </a:solidFill>
                <a:latin typeface="Malgun Gothic"/>
              </a:rPr>
              <a:t>조치 상신 버튼은 조치 상태 및 필수 일자(예상시기/완료일자)가 채워져야 활성화됩니다.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타 법인 프로젝트나 지적사항이 보이지 않습니다.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정상 정책: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 시스템은 법인 분리 정책에 따라 법인 사용자(MEMBER, LEAD_REP, CORP_HEAD)는 자기 법인 데이터만 조회할 수 있습니다.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감사팀/관리자: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감사팀(AUDITOR, AUDIT_LEADER)과 시스템관리자만 전 법인 조회가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완료(Completion)된 프로젝트를 다시 열어야 할 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오픈 권한자: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법인의 법인장(CORP_HEAD) 또는 본사 감사팀만 [완료해제(Open)] 버튼을 통해 프로젝트를 다시 오픈할 수 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PART 6. SUPPORT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지원 및 문의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24 /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글로벌 세아 감사 지적사항(CAP) 관리 시스템 문의처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본사 감사실 (업무 기준 및 결재 문의):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감사팀 담당자 / 사내 메신저 '감사실' 채널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시스템 운영팀 (계정, 권한, 전산 오류 문의): </a:t>
            </a:r>
            <a:r>
              <a:rPr sz="1100">
                <a:solidFill>
                  <a:srgbClr val="0F172A"/>
                </a:solidFill>
                <a:latin typeface="Malgun Gothic"/>
              </a:rPr>
              <a:t>IT 운영팀 관리자 / 사내 헬프데스크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사용자 매뉴얼 위치: </a:t>
            </a:r>
            <a:r>
              <a:rPr sz="1100">
                <a:solidFill>
                  <a:srgbClr val="0F172A"/>
                </a:solidFill>
                <a:latin typeface="Malgun Gothic"/>
              </a:rPr>
              <a:t>웹 화면 상단 [통합 매뉴얼 다운로드] 버튼 클릭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최신 시스템 버전: </a:t>
            </a:r>
            <a:r>
              <a:rPr sz="1100">
                <a:solidFill>
                  <a:srgbClr val="0F172A"/>
                </a:solidFill>
                <a:latin typeface="Malgun Gothic"/>
              </a:rPr>
              <a:t>CAP Management System v2.0 (2026.09 최신 배포본)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